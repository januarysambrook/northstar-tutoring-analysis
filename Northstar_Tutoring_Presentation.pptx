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c:v>
                </c:pt>
              </c:strCache>
            </c:strRef>
          </c:tx>
          <c:spPr>
            <a:solidFill>
              <a:srgbClr val="2F7DB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GCSE Maths</c:v>
                  </c:pt>
                  <c:pt idx="1">
                    <c:v>A Level Maths</c:v>
                  </c:pt>
                  <c:pt idx="2">
                    <c:v>KS3 Maths</c:v>
                  </c:pt>
                  <c:pt idx="3">
                    <c:v>A Level Physics</c:v>
                  </c:pt>
                  <c:pt idx="4">
                    <c:v>GCSE English</c:v>
                  </c:pt>
                  <c:pt idx="5">
                    <c:v>IGCSE Maths</c:v>
                  </c:pt>
                  <c:pt idx="6">
                    <c:v>Core Maths</c:v>
                  </c:pt>
                </c:lvl>
              </c:multiLvlStrCache>
            </c:multiLvlStrRef>
          </c:cat>
          <c:val>
            <c:numRef>
              <c:f>Sheet1!$B$2:$B$8</c:f>
              <c:numCache>
                <c:formatCode>General</c:formatCode>
                <c:ptCount val="7"/>
                <c:pt idx="0">
                  <c:v>6971</c:v>
                </c:pt>
                <c:pt idx="1">
                  <c:v>4925</c:v>
                </c:pt>
                <c:pt idx="2">
                  <c:v>3693</c:v>
                </c:pt>
                <c:pt idx="3">
                  <c:v>1678</c:v>
                </c:pt>
                <c:pt idx="4">
                  <c:v>1354</c:v>
                </c:pt>
                <c:pt idx="5">
                  <c:v>1350</c:v>
                </c:pt>
                <c:pt idx="6">
                  <c:v>966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c:v>
                </c:pt>
              </c:strCache>
            </c:strRef>
          </c:tx>
          <c:spPr>
            <a:solidFill>
              <a:srgbClr val="2F7DBA"/>
            </a:solidFill>
            <a:ln w="25400" cap="flat">
              <a:solidFill>
                <a:srgbClr val="2F7DB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F7DBA"/>
              </a:solidFill>
              <a:ln w="9525" cap="flat">
                <a:solidFill>
                  <a:srgbClr val="2F7DBA"/>
                </a:solidFill>
                <a:prstDash val="solid"/>
                <a:round/>
              </a:ln>
              <a:effectLst/>
            </c:spPr>
          </c:marker>
          <c:cat>
            <c:multiLvlStrRef>
              <c:f>Sheet1!$A$2:$A$31</c:f>
              <c:multiLvlStrCache>
                <c:ptCount val="30"/>
                <c:lvl>
                  <c:pt idx="0">
                    <c:v>2024-01</c:v>
                  </c:pt>
                  <c:pt idx="1">
                    <c:v>2024-02</c:v>
                  </c:pt>
                  <c:pt idx="2">
                    <c:v>2024-03</c:v>
                  </c:pt>
                  <c:pt idx="3">
                    <c:v>2024-04</c:v>
                  </c:pt>
                  <c:pt idx="4">
                    <c:v>2024-05</c:v>
                  </c:pt>
                  <c:pt idx="5">
                    <c:v>2024-06</c:v>
                  </c:pt>
                  <c:pt idx="6">
                    <c:v>2024-07</c:v>
                  </c:pt>
                  <c:pt idx="7">
                    <c:v>2024-08</c:v>
                  </c:pt>
                  <c:pt idx="8">
                    <c:v>2024-09</c:v>
                  </c:pt>
                  <c:pt idx="9">
                    <c:v>2024-10</c:v>
                  </c:pt>
                  <c:pt idx="10">
                    <c:v>2024-11</c:v>
                  </c:pt>
                  <c:pt idx="11">
                    <c:v>2024-12</c:v>
                  </c:pt>
                  <c:pt idx="12">
                    <c:v>2025-01</c:v>
                  </c:pt>
                  <c:pt idx="13">
                    <c:v>2025-02</c:v>
                  </c:pt>
                  <c:pt idx="14">
                    <c:v>2025-03</c:v>
                  </c:pt>
                  <c:pt idx="15">
                    <c:v>2025-04</c:v>
                  </c:pt>
                  <c:pt idx="16">
                    <c:v>2025-05</c:v>
                  </c:pt>
                  <c:pt idx="17">
                    <c:v>2025-06</c:v>
                  </c:pt>
                  <c:pt idx="18">
                    <c:v>2025-07</c:v>
                  </c:pt>
                  <c:pt idx="19">
                    <c:v>2025-08</c:v>
                  </c:pt>
                  <c:pt idx="20">
                    <c:v>2025-09</c:v>
                  </c:pt>
                  <c:pt idx="21">
                    <c:v>2025-10</c:v>
                  </c:pt>
                  <c:pt idx="22">
                    <c:v>2025-11</c:v>
                  </c:pt>
                  <c:pt idx="23">
                    <c:v>2025-12</c:v>
                  </c:pt>
                  <c:pt idx="24">
                    <c:v>2026-01</c:v>
                  </c:pt>
                  <c:pt idx="25">
                    <c:v>2026-02</c:v>
                  </c:pt>
                  <c:pt idx="26">
                    <c:v>2026-03</c:v>
                  </c:pt>
                  <c:pt idx="27">
                    <c:v>2026-04</c:v>
                  </c:pt>
                  <c:pt idx="28">
                    <c:v>2026-05</c:v>
                  </c:pt>
                  <c:pt idx="29">
                    <c:v>2026-06</c:v>
                  </c:pt>
                </c:lvl>
              </c:multiLvlStrCache>
            </c:multiLvlStrRef>
          </c:cat>
          <c:val>
            <c:numRef>
              <c:f>Sheet1!$B$2:$B$31</c:f>
              <c:numCache>
                <c:formatCode>General</c:formatCode>
                <c:ptCount val="30"/>
                <c:pt idx="0">
                  <c:v>582.6</c:v>
                </c:pt>
                <c:pt idx="1">
                  <c:v>567.3</c:v>
                </c:pt>
                <c:pt idx="2">
                  <c:v>762</c:v>
                </c:pt>
                <c:pt idx="3">
                  <c:v>600.6</c:v>
                </c:pt>
                <c:pt idx="4">
                  <c:v>648.3</c:v>
                </c:pt>
                <c:pt idx="5">
                  <c:v>473.2</c:v>
                </c:pt>
                <c:pt idx="6">
                  <c:v>207</c:v>
                </c:pt>
                <c:pt idx="7">
                  <c:v>38</c:v>
                </c:pt>
                <c:pt idx="8">
                  <c:v>248.2</c:v>
                </c:pt>
                <c:pt idx="9">
                  <c:v>440.6</c:v>
                </c:pt>
                <c:pt idx="10">
                  <c:v>1057.35</c:v>
                </c:pt>
                <c:pt idx="11">
                  <c:v>242</c:v>
                </c:pt>
                <c:pt idx="12">
                  <c:v>799.45</c:v>
                </c:pt>
                <c:pt idx="13">
                  <c:v>1202.3</c:v>
                </c:pt>
                <c:pt idx="14">
                  <c:v>997.12</c:v>
                </c:pt>
                <c:pt idx="15">
                  <c:v>894.2</c:v>
                </c:pt>
                <c:pt idx="16">
                  <c:v>1206.9</c:v>
                </c:pt>
                <c:pt idx="17">
                  <c:v>902.9</c:v>
                </c:pt>
                <c:pt idx="18">
                  <c:v>253.07</c:v>
                </c:pt>
                <c:pt idx="19">
                  <c:v>303.4</c:v>
                </c:pt>
                <c:pt idx="20">
                  <c:v>638.5</c:v>
                </c:pt>
                <c:pt idx="21">
                  <c:v>1210.2</c:v>
                </c:pt>
                <c:pt idx="22">
                  <c:v>796.5</c:v>
                </c:pt>
                <c:pt idx="23">
                  <c:v>229.6</c:v>
                </c:pt>
                <c:pt idx="24">
                  <c:v>803.65</c:v>
                </c:pt>
                <c:pt idx="25">
                  <c:v>1358.5</c:v>
                </c:pt>
                <c:pt idx="26">
                  <c:v>1245.25</c:v>
                </c:pt>
                <c:pt idx="27">
                  <c:v>461.65</c:v>
                </c:pt>
                <c:pt idx="28">
                  <c:v>1420.3</c:v>
                </c:pt>
                <c:pt idx="29">
                  <c:v>1556.4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c:v>
                </c:pt>
              </c:strCache>
            </c:strRef>
          </c:tx>
          <c:spPr>
            <a:solidFill>
              <a:srgbClr val="2F7DB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Tutor D</c:v>
                  </c:pt>
                  <c:pt idx="1">
                    <c:v>Tutor B</c:v>
                  </c:pt>
                  <c:pt idx="2">
                    <c:v>Tutor A</c:v>
                  </c:pt>
                  <c:pt idx="3">
                    <c:v>Tutor G</c:v>
                  </c:pt>
                  <c:pt idx="4">
                    <c:v>Tutor C</c:v>
                  </c:pt>
                  <c:pt idx="5">
                    <c:v>Tutor E</c:v>
                  </c:pt>
                  <c:pt idx="6">
                    <c:v>Tutor F</c:v>
                  </c:pt>
                  <c:pt idx="7">
                    <c:v>Tutor H</c:v>
                  </c:pt>
                </c:lvl>
              </c:multiLvlStrCache>
            </c:multiLvlStrRef>
          </c:cat>
          <c:val>
            <c:numRef>
              <c:f>Sheet1!$B$2:$B$9</c:f>
              <c:numCache>
                <c:formatCode>General</c:formatCode>
                <c:ptCount val="8"/>
                <c:pt idx="0">
                  <c:v>6214</c:v>
                </c:pt>
                <c:pt idx="1">
                  <c:v>4029</c:v>
                </c:pt>
                <c:pt idx="2">
                  <c:v>3925</c:v>
                </c:pt>
                <c:pt idx="3">
                  <c:v>2318</c:v>
                </c:pt>
                <c:pt idx="4">
                  <c:v>1802</c:v>
                </c:pt>
                <c:pt idx="5">
                  <c:v>1354</c:v>
                </c:pt>
                <c:pt idx="6">
                  <c:v>1301</c:v>
                </c:pt>
                <c:pt idx="7">
                  <c:v>1204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c:v>
                </c:pt>
              </c:strCache>
            </c:strRef>
          </c:tx>
          <c:spPr>
            <a:solidFill>
              <a:srgbClr val="2F7DB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Completed</c:v>
                  </c:pt>
                  <c:pt idx="1">
                    <c:v>Cancelled Early</c:v>
                  </c:pt>
                  <c:pt idx="2">
                    <c:v>Late Cancel</c:v>
                  </c:pt>
                  <c:pt idx="3">
                    <c:v>No-show</c:v>
                  </c:pt>
                </c:lvl>
              </c:multiLvlStrCache>
            </c:multiLvlStrRef>
          </c:cat>
          <c:val>
            <c:numRef>
              <c:f>Sheet1!$B$2:$B$5</c:f>
              <c:numCache>
                <c:formatCode>General</c:formatCode>
                <c:ptCount val="4"/>
                <c:pt idx="0">
                  <c:v>456</c:v>
                </c:pt>
                <c:pt idx="1">
                  <c:v>30</c:v>
                </c:pt>
                <c:pt idx="2">
                  <c:v>29</c:v>
                </c:pt>
                <c:pt idx="3">
                  <c:v>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c:v>
                </c:pt>
              </c:strCache>
            </c:strRef>
          </c:tx>
          <c:spPr>
            <a:solidFill>
              <a:srgbClr val="2F7DB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Yorkshire</c:v>
                  </c:pt>
                  <c:pt idx="1">
                    <c:v>Midlands</c:v>
                  </c:pt>
                  <c:pt idx="2">
                    <c:v>South East</c:v>
                  </c:pt>
                  <c:pt idx="3">
                    <c:v>North West</c:v>
                  </c:pt>
                  <c:pt idx="4">
                    <c:v>London</c:v>
                  </c:pt>
                </c:lvl>
              </c:multiLvlStrCache>
            </c:multiLvlStrRef>
          </c:cat>
          <c:val>
            <c:numRef>
              <c:f>Sheet1!$B$2:$B$6</c:f>
              <c:numCache>
                <c:formatCode>General</c:formatCode>
                <c:ptCount val="5"/>
                <c:pt idx="0">
                  <c:v>8089</c:v>
                </c:pt>
                <c:pt idx="1">
                  <c:v>5430</c:v>
                </c:pt>
                <c:pt idx="2">
                  <c:v>3328</c:v>
                </c:pt>
                <c:pt idx="3">
                  <c:v>3028</c:v>
                </c:pt>
                <c:pt idx="4">
                  <c:v>2272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c:v>
                </c:pt>
              </c:strCache>
            </c:strRef>
          </c:tx>
          <c:spPr>
            <a:solidFill>
              <a:srgbClr val="2F7DB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Tutor D</c:v>
                  </c:pt>
                  <c:pt idx="1">
                    <c:v>Tutor B</c:v>
                  </c:pt>
                  <c:pt idx="2">
                    <c:v>Tutor A</c:v>
                  </c:pt>
                  <c:pt idx="3">
                    <c:v>Tutor G</c:v>
                  </c:pt>
                  <c:pt idx="4">
                    <c:v>Tutor C</c:v>
                  </c:pt>
                  <c:pt idx="5">
                    <c:v>Tutor E</c:v>
                  </c:pt>
                  <c:pt idx="6">
                    <c:v>Tutor F</c:v>
                  </c:pt>
                  <c:pt idx="7">
                    <c:v>Tutor H</c:v>
                  </c:pt>
                </c:lvl>
              </c:multiLvlStrCache>
            </c:multiLvlStrRef>
          </c:cat>
          <c:val>
            <c:numRef>
              <c:f>Sheet1!$B$2:$B$9</c:f>
              <c:numCache>
                <c:formatCode>General</c:formatCode>
                <c:ptCount val="8"/>
                <c:pt idx="0">
                  <c:v>47</c:v>
                </c:pt>
                <c:pt idx="1">
                  <c:v>55</c:v>
                </c:pt>
                <c:pt idx="2">
                  <c:v>37</c:v>
                </c:pt>
                <c:pt idx="3">
                  <c:v>59</c:v>
                </c:pt>
                <c:pt idx="4">
                  <c:v>40</c:v>
                </c:pt>
                <c:pt idx="5">
                  <c:v>50</c:v>
                </c:pt>
                <c:pt idx="6">
                  <c:v>63</c:v>
                </c:pt>
                <c:pt idx="7">
                  <c:v>43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to about 20 seconds. Frame it as a portfolio project: a small but complete model used to practise DAX and Power BI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up the business questions. You do not need to explain DAX here — just the purpose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point is that this is small enough to understand but still rich enough to practise proper DAX and modelling.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central fact table and explain that this is the same star-schema idea used in the previous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the NovaStream structure but adapts it honestly. Do not claim there were cleaning issues that were not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challenged, say that this dataset was designed for DAX practice rather than messy Power Query cleaning.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slide. Use it to show DAX range without reading every measure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KPIs. The headline is that Northstar is profitable, has high completion, and is heavily Maths-led.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chart summary. Use it as the bridge from descriptive analysis to specific findings on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questions in order. This slide is the one recruiters or assessors should be able to understand without Power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recommendations as practical business actions rather than generic “do more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apologise for limitations. Naming them makes the analysis more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to jump back to the model slide or recommendations slide if asked about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ORTHSTAR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chart" Target="/ppt/charts/chart5.xml"/><Relationship Id="rId5" Type="http://schemas.openxmlformats.org/officeDocument/2006/relationships/chart" Target="/ppt/charts/chart6.xml"/><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E"/>
          </a:solidFill>
          <a:ln w="12700">
            <a:solidFill>
              <a:srgbClr val="F7FBFE"/>
            </a:solidFill>
            <a:prstDash val="solid"/>
          </a:ln>
        </p:spPr>
      </p:sp>
      <p:sp>
        <p:nvSpPr>
          <p:cNvPr id="3" name="Shape 1"/>
          <p:cNvSpPr/>
          <p:nvPr/>
        </p:nvSpPr>
        <p:spPr>
          <a:xfrm>
            <a:off x="0" y="0"/>
            <a:ext cx="310896" cy="6858000"/>
          </a:xfrm>
          <a:prstGeom prst="rect">
            <a:avLst/>
          </a:prstGeom>
          <a:solidFill>
            <a:srgbClr val="17466E"/>
          </a:solidFill>
          <a:ln w="12700">
            <a:solidFill>
              <a:srgbClr val="17466E"/>
            </a:solidFill>
            <a:prstDash val="solid"/>
          </a:ln>
        </p:spPr>
      </p:sp>
      <p:sp>
        <p:nvSpPr>
          <p:cNvPr id="4" name="Text 2"/>
          <p:cNvSpPr/>
          <p:nvPr/>
        </p:nvSpPr>
        <p:spPr>
          <a:xfrm>
            <a:off x="777240" y="685800"/>
            <a:ext cx="4754880" cy="274320"/>
          </a:xfrm>
          <a:prstGeom prst="rect">
            <a:avLst/>
          </a:prstGeom>
          <a:noFill/>
          <a:ln/>
        </p:spPr>
        <p:txBody>
          <a:bodyPr wrap="square" rtlCol="0" anchor="ctr"/>
          <a:lstStyle/>
          <a:p>
            <a:pPr indent="0" marL="0">
              <a:buNone/>
            </a:pPr>
            <a:r>
              <a:rPr lang="en-US" sz="1000" b="1" dirty="0">
                <a:solidFill>
                  <a:srgbClr val="5B6770"/>
                </a:solidFill>
              </a:rPr>
              <a:t>POWER BI PL-300  ·  PORTFOLIO PROJECT</a:t>
            </a:r>
            <a:endParaRPr lang="en-US" sz="1000" dirty="0"/>
          </a:p>
        </p:txBody>
      </p:sp>
      <p:sp>
        <p:nvSpPr>
          <p:cNvPr id="5" name="Text 3"/>
          <p:cNvSpPr/>
          <p:nvPr/>
        </p:nvSpPr>
        <p:spPr>
          <a:xfrm>
            <a:off x="777240" y="1234440"/>
            <a:ext cx="6126480" cy="1234440"/>
          </a:xfrm>
          <a:prstGeom prst="rect">
            <a:avLst/>
          </a:prstGeom>
          <a:noFill/>
          <a:ln/>
        </p:spPr>
        <p:txBody>
          <a:bodyPr wrap="square" lIns="0" tIns="0" rIns="0" bIns="0" rtlCol="0" anchor="ctr">
            <a:normAutofit/>
          </a:bodyPr>
          <a:lstStyle/>
          <a:p>
            <a:pPr indent="0" marL="0">
              <a:buNone/>
            </a:pPr>
            <a:r>
              <a:rPr lang="en-US" sz="3400" b="1" dirty="0">
                <a:solidFill>
                  <a:srgbClr val="17466E"/>
                </a:solidFill>
              </a:rPr>
              <a:t>Northstar Tutoring</a:t>
            </a:r>
            <a:endParaRPr lang="en-US" sz="3400" dirty="0"/>
          </a:p>
          <a:p>
            <a:pPr indent="0" marL="0">
              <a:buNone/>
            </a:pPr>
            <a:r>
              <a:rPr lang="en-US" sz="3400" b="1" dirty="0">
                <a:solidFill>
                  <a:srgbClr val="17466E"/>
                </a:solidFill>
              </a:rPr>
              <a:t>Analytics</a:t>
            </a:r>
            <a:endParaRPr lang="en-US" sz="3400" dirty="0"/>
          </a:p>
        </p:txBody>
      </p:sp>
      <p:sp>
        <p:nvSpPr>
          <p:cNvPr id="6" name="Text 4"/>
          <p:cNvSpPr/>
          <p:nvPr/>
        </p:nvSpPr>
        <p:spPr>
          <a:xfrm>
            <a:off x="795528" y="2743200"/>
            <a:ext cx="6583680" cy="365760"/>
          </a:xfrm>
          <a:prstGeom prst="rect">
            <a:avLst/>
          </a:prstGeom>
          <a:noFill/>
          <a:ln/>
        </p:spPr>
        <p:txBody>
          <a:bodyPr wrap="square" rtlCol="0" anchor="ctr">
            <a:normAutofit/>
          </a:bodyPr>
          <a:lstStyle/>
          <a:p>
            <a:pPr indent="0" marL="0">
              <a:buNone/>
            </a:pPr>
            <a:r>
              <a:rPr lang="en-US" sz="1600" dirty="0">
                <a:solidFill>
                  <a:srgbClr val="1F2933"/>
                </a:solidFill>
              </a:rPr>
              <a:t>Revenue, completion, tutor performance and student demand in a fictional tutoring business.</a:t>
            </a:r>
            <a:endParaRPr lang="en-US" sz="1600" dirty="0"/>
          </a:p>
        </p:txBody>
      </p:sp>
      <p:sp>
        <p:nvSpPr>
          <p:cNvPr id="7" name="Shape 5"/>
          <p:cNvSpPr/>
          <p:nvPr/>
        </p:nvSpPr>
        <p:spPr>
          <a:xfrm>
            <a:off x="822960" y="3840480"/>
            <a:ext cx="1691640" cy="822960"/>
          </a:xfrm>
          <a:prstGeom prst="roundRect">
            <a:avLst>
              <a:gd name="adj" fmla="val 8889"/>
            </a:avLst>
          </a:prstGeom>
          <a:solidFill>
            <a:srgbClr val="FFFFFF"/>
          </a:solidFill>
          <a:ln w="8890">
            <a:solidFill>
              <a:srgbClr val="E9EDF0"/>
            </a:solidFill>
            <a:prstDash val="solid"/>
          </a:ln>
        </p:spPr>
      </p:sp>
      <p:sp>
        <p:nvSpPr>
          <p:cNvPr id="8" name="Text 6"/>
          <p:cNvSpPr/>
          <p:nvPr/>
        </p:nvSpPr>
        <p:spPr>
          <a:xfrm>
            <a:off x="932688" y="3950208"/>
            <a:ext cx="147218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£22.1k</a:t>
            </a:r>
            <a:endParaRPr lang="en-US" sz="1700" dirty="0"/>
          </a:p>
        </p:txBody>
      </p:sp>
      <p:sp>
        <p:nvSpPr>
          <p:cNvPr id="9" name="Text 7"/>
          <p:cNvSpPr/>
          <p:nvPr/>
        </p:nvSpPr>
        <p:spPr>
          <a:xfrm>
            <a:off x="932688" y="4270248"/>
            <a:ext cx="147218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Total Revenue</a:t>
            </a:r>
            <a:endParaRPr lang="en-US" sz="770" dirty="0"/>
          </a:p>
        </p:txBody>
      </p:sp>
      <p:sp>
        <p:nvSpPr>
          <p:cNvPr id="10" name="Shape 8"/>
          <p:cNvSpPr/>
          <p:nvPr/>
        </p:nvSpPr>
        <p:spPr>
          <a:xfrm>
            <a:off x="2697480" y="3840480"/>
            <a:ext cx="1691640" cy="822960"/>
          </a:xfrm>
          <a:prstGeom prst="roundRect">
            <a:avLst>
              <a:gd name="adj" fmla="val 8889"/>
            </a:avLst>
          </a:prstGeom>
          <a:solidFill>
            <a:srgbClr val="FFFFFF"/>
          </a:solidFill>
          <a:ln w="8890">
            <a:solidFill>
              <a:srgbClr val="E9EDF0"/>
            </a:solidFill>
            <a:prstDash val="solid"/>
          </a:ln>
        </p:spPr>
      </p:sp>
      <p:sp>
        <p:nvSpPr>
          <p:cNvPr id="11" name="Text 9"/>
          <p:cNvSpPr/>
          <p:nvPr/>
        </p:nvSpPr>
        <p:spPr>
          <a:xfrm>
            <a:off x="2807208" y="3950208"/>
            <a:ext cx="147218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87.7%</a:t>
            </a:r>
            <a:endParaRPr lang="en-US" sz="1700" dirty="0"/>
          </a:p>
        </p:txBody>
      </p:sp>
      <p:sp>
        <p:nvSpPr>
          <p:cNvPr id="12" name="Text 10"/>
          <p:cNvSpPr/>
          <p:nvPr/>
        </p:nvSpPr>
        <p:spPr>
          <a:xfrm>
            <a:off x="2807208" y="4270248"/>
            <a:ext cx="147218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Completion Rate</a:t>
            </a:r>
            <a:endParaRPr lang="en-US" sz="770" dirty="0"/>
          </a:p>
        </p:txBody>
      </p:sp>
      <p:sp>
        <p:nvSpPr>
          <p:cNvPr id="13" name="Shape 11"/>
          <p:cNvSpPr/>
          <p:nvPr/>
        </p:nvSpPr>
        <p:spPr>
          <a:xfrm>
            <a:off x="4572000" y="3840480"/>
            <a:ext cx="1691640" cy="822960"/>
          </a:xfrm>
          <a:prstGeom prst="roundRect">
            <a:avLst>
              <a:gd name="adj" fmla="val 8889"/>
            </a:avLst>
          </a:prstGeom>
          <a:solidFill>
            <a:srgbClr val="FFFFFF"/>
          </a:solidFill>
          <a:ln w="8890">
            <a:solidFill>
              <a:srgbClr val="E9EDF0"/>
            </a:solidFill>
            <a:prstDash val="solid"/>
          </a:ln>
        </p:spPr>
      </p:sp>
      <p:sp>
        <p:nvSpPr>
          <p:cNvPr id="14" name="Text 12"/>
          <p:cNvSpPr/>
          <p:nvPr/>
        </p:nvSpPr>
        <p:spPr>
          <a:xfrm>
            <a:off x="4681728" y="3950208"/>
            <a:ext cx="147218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£6.6k</a:t>
            </a:r>
            <a:endParaRPr lang="en-US" sz="1700" dirty="0"/>
          </a:p>
        </p:txBody>
      </p:sp>
      <p:sp>
        <p:nvSpPr>
          <p:cNvPr id="15" name="Text 13"/>
          <p:cNvSpPr/>
          <p:nvPr/>
        </p:nvSpPr>
        <p:spPr>
          <a:xfrm>
            <a:off x="4681728" y="4270248"/>
            <a:ext cx="147218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Gross Profit</a:t>
            </a:r>
            <a:endParaRPr lang="en-US" sz="770" dirty="0"/>
          </a:p>
        </p:txBody>
      </p:sp>
      <p:sp>
        <p:nvSpPr>
          <p:cNvPr id="16" name="Text 14"/>
          <p:cNvSpPr/>
          <p:nvPr/>
        </p:nvSpPr>
        <p:spPr>
          <a:xfrm>
            <a:off x="822960" y="5897880"/>
            <a:ext cx="3657600" cy="384048"/>
          </a:xfrm>
          <a:prstGeom prst="rect">
            <a:avLst/>
          </a:prstGeom>
          <a:noFill/>
          <a:ln/>
        </p:spPr>
        <p:txBody>
          <a:bodyPr wrap="square" lIns="0" tIns="0" rIns="0" bIns="0" rtlCol="0" anchor="ctr"/>
          <a:lstStyle/>
          <a:p>
            <a:pPr indent="0" marL="0">
              <a:buNone/>
            </a:pPr>
            <a:r>
              <a:rPr lang="en-US" sz="1000" dirty="0">
                <a:solidFill>
                  <a:srgbClr val="5B6770"/>
                </a:solidFill>
              </a:rPr>
              <a:t>Learner: January Sambrook</a:t>
            </a:r>
            <a:endParaRPr lang="en-US" sz="1000" dirty="0"/>
          </a:p>
          <a:p>
            <a:pPr indent="0" marL="0">
              <a:buNone/>
            </a:pPr>
            <a:r>
              <a:rPr lang="en-US" sz="1000" dirty="0">
                <a:solidFill>
                  <a:srgbClr val="5B6770"/>
                </a:solidFill>
              </a:rPr>
              <a:t>Date: September 2026</a:t>
            </a:r>
            <a:endParaRPr lang="en-US" sz="1000" dirty="0"/>
          </a:p>
        </p:txBody>
      </p:sp>
      <p:sp>
        <p:nvSpPr>
          <p:cNvPr id="17" name="Text 15"/>
          <p:cNvSpPr/>
          <p:nvPr/>
        </p:nvSpPr>
        <p:spPr>
          <a:xfrm>
            <a:off x="7406640" y="1097280"/>
            <a:ext cx="3566160" cy="2011680"/>
          </a:xfrm>
          <a:prstGeom prst="rect">
            <a:avLst/>
          </a:prstGeom>
          <a:noFill/>
          <a:ln/>
        </p:spPr>
        <p:txBody>
          <a:bodyPr wrap="square" rtlCol="0" anchor="ctr">
            <a:normAutofit/>
          </a:bodyPr>
          <a:lstStyle/>
          <a:p>
            <a:pPr indent="0" marL="0">
              <a:buNone/>
            </a:pPr>
            <a:r>
              <a:rPr lang="en-US" sz="1200" i="1" dirty="0">
                <a:solidFill>
                  <a:srgbClr val="17466E"/>
                </a:solidFill>
              </a:rPr>
              <a:t>Opening line: Northstar needed to understand how tutoring sessions convert into revenue, profit and satisfied students. This is the operating picture and the first actions I would take.</a:t>
            </a:r>
            <a:endParaRPr lang="en-US" sz="1200" dirty="0"/>
          </a:p>
        </p:txBody>
      </p:sp>
      <p:sp>
        <p:nvSpPr>
          <p:cNvPr id="18" name="Text 16"/>
          <p:cNvSpPr/>
          <p:nvPr/>
        </p:nvSpPr>
        <p:spPr>
          <a:xfrm>
            <a:off x="411480" y="6492240"/>
            <a:ext cx="4572000" cy="164592"/>
          </a:xfrm>
          <a:prstGeom prst="rect">
            <a:avLst/>
          </a:prstGeom>
          <a:noFill/>
          <a:ln/>
        </p:spPr>
        <p:txBody>
          <a:bodyPr wrap="square" rtlCol="0" anchor="ctr"/>
          <a:lstStyle/>
          <a:p>
            <a:pPr indent="0" marL="0">
              <a:buNone/>
            </a:pPr>
            <a:r>
              <a:rPr lang="en-US" sz="660" dirty="0">
                <a:solidFill>
                  <a:srgbClr val="7A8790"/>
                </a:solidFill>
              </a:rPr>
              <a:t>Northstar Tutoring Analytics  ·  Power BI Portfolio</a:t>
            </a:r>
            <a:endParaRPr lang="en-US" sz="660" dirty="0"/>
          </a:p>
        </p:txBody>
      </p:sp>
      <p:sp>
        <p:nvSpPr>
          <p:cNvPr id="19" name="Text 17"/>
          <p:cNvSpPr/>
          <p:nvPr/>
        </p:nvSpPr>
        <p:spPr>
          <a:xfrm>
            <a:off x="11375136" y="6492240"/>
            <a:ext cx="320040" cy="164592"/>
          </a:xfrm>
          <a:prstGeom prst="rect">
            <a:avLst/>
          </a:prstGeom>
          <a:noFill/>
          <a:ln/>
        </p:spPr>
        <p:txBody>
          <a:bodyPr wrap="square" rtlCol="0" anchor="ctr"/>
          <a:lstStyle/>
          <a:p>
            <a:pPr algn="r" indent="0" marL="0">
              <a:buNone/>
            </a:pPr>
            <a:r>
              <a:rPr lang="en-US" sz="660" dirty="0">
                <a:solidFill>
                  <a:srgbClr val="7A8790"/>
                </a:solidFill>
              </a:rPr>
              <a:t>1</a:t>
            </a:r>
            <a:endParaRPr lang="en-US" sz="6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1480" y="146304"/>
            <a:ext cx="4846320" cy="201168"/>
          </a:xfrm>
          <a:prstGeom prst="rect">
            <a:avLst/>
          </a:prstGeom>
          <a:noFill/>
          <a:ln/>
        </p:spPr>
        <p:txBody>
          <a:bodyPr wrap="square" rtlCol="0" anchor="ctr"/>
          <a:lstStyle/>
          <a:p>
            <a:pPr indent="0" marL="0">
              <a:buNone/>
            </a:pPr>
            <a:r>
              <a:rPr lang="en-US" sz="750" b="1" dirty="0">
                <a:solidFill>
                  <a:srgbClr val="5B6770"/>
                </a:solidFill>
                <a:latin typeface="Aptos" pitchFamily="34" charset="0"/>
                <a:ea typeface="Aptos" pitchFamily="34" charset="-122"/>
                <a:cs typeface="Aptos" pitchFamily="34" charset="-120"/>
              </a:rPr>
              <a:t>Power BI PL-300  ·  Portfolio Project</a:t>
            </a:r>
            <a:endParaRPr lang="en-US" sz="750" dirty="0"/>
          </a:p>
        </p:txBody>
      </p:sp>
      <p:sp>
        <p:nvSpPr>
          <p:cNvPr id="3" name="Text 1"/>
          <p:cNvSpPr/>
          <p:nvPr/>
        </p:nvSpPr>
        <p:spPr>
          <a:xfrm>
            <a:off x="411480" y="420624"/>
            <a:ext cx="7680960" cy="384048"/>
          </a:xfrm>
          <a:prstGeom prst="rect">
            <a:avLst/>
          </a:prstGeom>
          <a:noFill/>
          <a:ln/>
        </p:spPr>
        <p:txBody>
          <a:bodyPr wrap="square" rtlCol="0" anchor="ctr">
            <a:normAutofit/>
          </a:bodyPr>
          <a:lstStyle/>
          <a:p>
            <a:pPr indent="0" marL="0">
              <a:buNone/>
            </a:pPr>
            <a:r>
              <a:rPr lang="en-US" sz="2000" b="1" dirty="0">
                <a:solidFill>
                  <a:srgbClr val="17466E"/>
                </a:solidFill>
                <a:latin typeface="Aptos Display" pitchFamily="34" charset="0"/>
                <a:ea typeface="Aptos Display" pitchFamily="34" charset="-122"/>
                <a:cs typeface="Aptos Display" pitchFamily="34" charset="-120"/>
              </a:rPr>
              <a:t>Project Brief</a:t>
            </a:r>
            <a:endParaRPr lang="en-US" sz="2000" dirty="0"/>
          </a:p>
        </p:txBody>
      </p:sp>
      <p:sp>
        <p:nvSpPr>
          <p:cNvPr id="4" name="Shape 2"/>
          <p:cNvSpPr/>
          <p:nvPr/>
        </p:nvSpPr>
        <p:spPr>
          <a:xfrm>
            <a:off x="411480" y="905256"/>
            <a:ext cx="11292840" cy="0"/>
          </a:xfrm>
          <a:prstGeom prst="line">
            <a:avLst/>
          </a:prstGeom>
          <a:noFill/>
          <a:ln w="15240">
            <a:solidFill>
              <a:srgbClr val="17466E"/>
            </a:solidFill>
            <a:prstDash val="solid"/>
          </a:ln>
        </p:spPr>
      </p:sp>
      <p:sp>
        <p:nvSpPr>
          <p:cNvPr id="5" name="Text 3"/>
          <p:cNvSpPr/>
          <p:nvPr/>
        </p:nvSpPr>
        <p:spPr>
          <a:xfrm>
            <a:off x="10972800" y="438912"/>
            <a:ext cx="640080" cy="182880"/>
          </a:xfrm>
          <a:prstGeom prst="rect">
            <a:avLst/>
          </a:prstGeom>
          <a:noFill/>
          <a:ln/>
        </p:spPr>
        <p:txBody>
          <a:bodyPr wrap="square" rtlCol="0" anchor="ctr"/>
          <a:lstStyle/>
          <a:p>
            <a:pPr algn="r" indent="0" marL="0">
              <a:buNone/>
            </a:pPr>
            <a:r>
              <a:rPr lang="en-US" sz="750" dirty="0">
                <a:solidFill>
                  <a:srgbClr val="5B6770"/>
                </a:solidFill>
              </a:rPr>
              <a:t>2 / 12</a:t>
            </a:r>
            <a:endParaRPr lang="en-US" sz="750" dirty="0"/>
          </a:p>
        </p:txBody>
      </p:sp>
      <p:sp>
        <p:nvSpPr>
          <p:cNvPr id="6" name="Text 4"/>
          <p:cNvSpPr/>
          <p:nvPr/>
        </p:nvSpPr>
        <p:spPr>
          <a:xfrm>
            <a:off x="411480" y="1051560"/>
            <a:ext cx="10424160" cy="292608"/>
          </a:xfrm>
          <a:prstGeom prst="rect">
            <a:avLst/>
          </a:prstGeom>
          <a:noFill/>
          <a:ln/>
        </p:spPr>
        <p:txBody>
          <a:bodyPr wrap="square" rtlCol="0" anchor="ctr">
            <a:normAutofit/>
          </a:bodyPr>
          <a:lstStyle/>
          <a:p>
            <a:pPr indent="0" marL="0">
              <a:buNone/>
            </a:pPr>
            <a:r>
              <a:rPr lang="en-US" sz="1700" b="1" dirty="0">
                <a:solidFill>
                  <a:srgbClr val="1F2933"/>
                </a:solidFill>
              </a:rPr>
              <a:t>A tutoring business with sessions, students, tutors and subjects — and the questions that turn activity into insight.</a:t>
            </a:r>
            <a:endParaRPr lang="en-US" sz="1700" dirty="0"/>
          </a:p>
        </p:txBody>
      </p:sp>
      <p:sp>
        <p:nvSpPr>
          <p:cNvPr id="7" name="Text 5"/>
          <p:cNvSpPr/>
          <p:nvPr/>
        </p:nvSpPr>
        <p:spPr>
          <a:xfrm>
            <a:off x="594360" y="1600200"/>
            <a:ext cx="2194560" cy="228600"/>
          </a:xfrm>
          <a:prstGeom prst="rect">
            <a:avLst/>
          </a:prstGeom>
          <a:noFill/>
          <a:ln/>
        </p:spPr>
        <p:txBody>
          <a:bodyPr wrap="square" rtlCol="0" anchor="ctr"/>
          <a:lstStyle/>
          <a:p>
            <a:pPr indent="0" marL="0">
              <a:buNone/>
            </a:pPr>
            <a:r>
              <a:rPr lang="en-US" sz="840" b="1" dirty="0">
                <a:solidFill>
                  <a:srgbClr val="17466E"/>
                </a:solidFill>
              </a:rPr>
              <a:t>THE SITUATION</a:t>
            </a:r>
            <a:endParaRPr lang="en-US" sz="840" dirty="0"/>
          </a:p>
        </p:txBody>
      </p:sp>
      <p:sp>
        <p:nvSpPr>
          <p:cNvPr id="8" name="Text 6"/>
          <p:cNvSpPr/>
          <p:nvPr/>
        </p:nvSpPr>
        <p:spPr>
          <a:xfrm>
            <a:off x="594360" y="1874520"/>
            <a:ext cx="4754880" cy="1234440"/>
          </a:xfrm>
          <a:prstGeom prst="rect">
            <a:avLst/>
          </a:prstGeom>
          <a:noFill/>
          <a:ln/>
        </p:spPr>
        <p:txBody>
          <a:bodyPr wrap="square" lIns="254" tIns="254" rIns="254" bIns="254" rtlCol="0" anchor="t">
            <a:normAutofit/>
          </a:bodyPr>
          <a:lstStyle/>
          <a:p>
            <a:pPr indent="0" marL="0">
              <a:buNone/>
            </a:pPr>
            <a:r>
              <a:rPr lang="en-US" sz="1250" dirty="0">
                <a:solidFill>
                  <a:srgbClr val="1F2933"/>
                </a:solidFill>
              </a:rPr>
              <a:t>Northstar Tutoring is a fictional tutoring business. The dataset tracks 520 tutoring sessions across subjects, tutors, students and delivery modes. The goal was to build a Power BI report that explains revenue, profitability, session completion and tutor performance.</a:t>
            </a:r>
            <a:endParaRPr lang="en-US" sz="1250" dirty="0"/>
          </a:p>
        </p:txBody>
      </p:sp>
      <p:sp>
        <p:nvSpPr>
          <p:cNvPr id="9" name="Text 7"/>
          <p:cNvSpPr/>
          <p:nvPr/>
        </p:nvSpPr>
        <p:spPr>
          <a:xfrm>
            <a:off x="5806440" y="1600200"/>
            <a:ext cx="2194560" cy="228600"/>
          </a:xfrm>
          <a:prstGeom prst="rect">
            <a:avLst/>
          </a:prstGeom>
          <a:noFill/>
          <a:ln/>
        </p:spPr>
        <p:txBody>
          <a:bodyPr wrap="square" rtlCol="0" anchor="ctr"/>
          <a:lstStyle/>
          <a:p>
            <a:pPr indent="0" marL="0">
              <a:buNone/>
            </a:pPr>
            <a:r>
              <a:rPr lang="en-US" sz="840" b="1" dirty="0">
                <a:solidFill>
                  <a:srgbClr val="17466E"/>
                </a:solidFill>
              </a:rPr>
              <a:t>OBJECTIVES</a:t>
            </a:r>
            <a:endParaRPr lang="en-US" sz="840" dirty="0"/>
          </a:p>
        </p:txBody>
      </p:sp>
      <p:sp>
        <p:nvSpPr>
          <p:cNvPr id="10" name="Text 8"/>
          <p:cNvSpPr/>
          <p:nvPr/>
        </p:nvSpPr>
        <p:spPr>
          <a:xfrm>
            <a:off x="5806440" y="1874520"/>
            <a:ext cx="5120640" cy="1298448"/>
          </a:xfrm>
          <a:prstGeom prst="rect">
            <a:avLst/>
          </a:prstGeom>
          <a:noFill/>
          <a:ln/>
        </p:spPr>
        <p:txBody>
          <a:bodyPr wrap="square" lIns="254" tIns="254" rIns="254" bIns="254" rtlCol="0" anchor="ctr">
            <a:normAutofit/>
          </a:bodyPr>
          <a:lstStyle/>
          <a:p>
            <a:pPr marL="127000" indent="-127000">
              <a:buSzPct val="100000"/>
              <a:buChar char="•"/>
            </a:pPr>
            <a:r>
              <a:rPr lang="en-US" sz="1200" dirty="0">
                <a:solidFill>
                  <a:srgbClr val="1F2933"/>
                </a:solidFill>
              </a:rPr>
              <a:t>Model the session data into a clean star schema.</a:t>
            </a:r>
            <a:endParaRPr lang="en-US" sz="1200" dirty="0"/>
          </a:p>
          <a:p>
            <a:pPr marL="127000" indent="-127000">
              <a:buSzPct val="100000"/>
              <a:buChar char="•"/>
            </a:pPr>
            <a:r>
              <a:rPr lang="en-US" sz="1200" dirty="0">
                <a:solidFill>
                  <a:srgbClr val="1F2933"/>
                </a:solidFill>
              </a:rPr>
              <a:t>Create reusable DAX measures for revenue, cost, profit and completion.</a:t>
            </a:r>
            <a:endParaRPr lang="en-US" sz="1200" dirty="0"/>
          </a:p>
          <a:p>
            <a:pPr marL="127000" indent="-127000">
              <a:buSzPct val="100000"/>
              <a:buChar char="•"/>
            </a:pPr>
            <a:r>
              <a:rPr lang="en-US" sz="1200" dirty="0">
                <a:solidFill>
                  <a:srgbClr val="1F2933"/>
                </a:solidFill>
              </a:rPr>
              <a:t>Use filter context, time intelligence and ranking to explore performance.</a:t>
            </a:r>
            <a:endParaRPr lang="en-US" sz="1200" dirty="0"/>
          </a:p>
          <a:p>
            <a:pPr marL="127000" indent="-127000">
              <a:buSzPct val="100000"/>
              <a:buChar char="•"/>
            </a:pPr>
            <a:r>
              <a:rPr lang="en-US" sz="1200" dirty="0">
                <a:solidFill>
                  <a:srgbClr val="1F2933"/>
                </a:solidFill>
              </a:rPr>
              <a:t>Translate the findings into practical actions for a tutoring business.</a:t>
            </a:r>
            <a:endParaRPr lang="en-US" sz="1200" dirty="0"/>
          </a:p>
        </p:txBody>
      </p:sp>
      <p:sp>
        <p:nvSpPr>
          <p:cNvPr id="11" name="Text 9"/>
          <p:cNvSpPr/>
          <p:nvPr/>
        </p:nvSpPr>
        <p:spPr>
          <a:xfrm>
            <a:off x="594360" y="3749040"/>
            <a:ext cx="2743200" cy="228600"/>
          </a:xfrm>
          <a:prstGeom prst="rect">
            <a:avLst/>
          </a:prstGeom>
          <a:noFill/>
          <a:ln/>
        </p:spPr>
        <p:txBody>
          <a:bodyPr wrap="square" rtlCol="0" anchor="ctr"/>
          <a:lstStyle/>
          <a:p>
            <a:pPr indent="0" marL="0">
              <a:buNone/>
            </a:pPr>
            <a:r>
              <a:rPr lang="en-US" sz="840" b="1" dirty="0">
                <a:solidFill>
                  <a:srgbClr val="17466E"/>
                </a:solidFill>
              </a:rPr>
              <a:t>KEY QUESTIONS TESTED</a:t>
            </a:r>
            <a:endParaRPr lang="en-US" sz="840" dirty="0"/>
          </a:p>
        </p:txBody>
      </p:sp>
      <p:sp>
        <p:nvSpPr>
          <p:cNvPr id="12" name="Text 10"/>
          <p:cNvSpPr/>
          <p:nvPr/>
        </p:nvSpPr>
        <p:spPr>
          <a:xfrm>
            <a:off x="594360" y="4041648"/>
            <a:ext cx="10515600" cy="1143000"/>
          </a:xfrm>
          <a:prstGeom prst="rect">
            <a:avLst/>
          </a:prstGeom>
          <a:noFill/>
          <a:ln/>
        </p:spPr>
        <p:txBody>
          <a:bodyPr wrap="square" lIns="254" tIns="254" rIns="254" bIns="254" rtlCol="0" anchor="ctr">
            <a:normAutofit/>
          </a:bodyPr>
          <a:lstStyle/>
          <a:p>
            <a:pPr marL="127000" indent="-127000">
              <a:buSzPct val="100000"/>
              <a:buChar char="•"/>
            </a:pPr>
            <a:r>
              <a:rPr lang="en-US" sz="1200" dirty="0">
                <a:solidFill>
                  <a:srgbClr val="1F2933"/>
                </a:solidFill>
              </a:rPr>
              <a:t>How much revenue and profit has Northstar generated?</a:t>
            </a:r>
            <a:endParaRPr lang="en-US" sz="1200" dirty="0"/>
          </a:p>
          <a:p>
            <a:pPr marL="127000" indent="-127000">
              <a:buSzPct val="100000"/>
              <a:buChar char="•"/>
            </a:pPr>
            <a:r>
              <a:rPr lang="en-US" sz="1200" dirty="0">
                <a:solidFill>
                  <a:srgbClr val="1F2933"/>
                </a:solidFill>
              </a:rPr>
              <a:t>How often are booked sessions completed?</a:t>
            </a:r>
            <a:endParaRPr lang="en-US" sz="1200" dirty="0"/>
          </a:p>
          <a:p>
            <a:pPr marL="127000" indent="-127000">
              <a:buSzPct val="100000"/>
              <a:buChar char="•"/>
            </a:pPr>
            <a:r>
              <a:rPr lang="en-US" sz="1200" dirty="0">
                <a:solidFill>
                  <a:srgbClr val="1F2933"/>
                </a:solidFill>
              </a:rPr>
              <a:t>Which subjects and regions drive demand?</a:t>
            </a:r>
            <a:endParaRPr lang="en-US" sz="1200" dirty="0"/>
          </a:p>
          <a:p>
            <a:pPr marL="127000" indent="-127000">
              <a:buSzPct val="100000"/>
              <a:buChar char="•"/>
            </a:pPr>
            <a:r>
              <a:rPr lang="en-US" sz="1200" dirty="0">
                <a:solidFill>
                  <a:srgbClr val="1F2933"/>
                </a:solidFill>
              </a:rPr>
              <a:t>Which tutors generate revenue and strong satisfaction?</a:t>
            </a:r>
            <a:endParaRPr lang="en-US" sz="1200" dirty="0"/>
          </a:p>
          <a:p>
            <a:pPr marL="127000" indent="-127000">
              <a:buSzPct val="100000"/>
              <a:buChar char="•"/>
            </a:pPr>
            <a:r>
              <a:rPr lang="en-US" sz="1200" dirty="0">
                <a:solidFill>
                  <a:srgbClr val="1F2933"/>
                </a:solidFill>
              </a:rPr>
              <a:t>What operational changes would improve margin and student experience?</a:t>
            </a:r>
            <a:endParaRPr lang="en-US" sz="1200" dirty="0"/>
          </a:p>
        </p:txBody>
      </p:sp>
      <p:sp>
        <p:nvSpPr>
          <p:cNvPr id="13" name="Shape 11"/>
          <p:cNvSpPr/>
          <p:nvPr/>
        </p:nvSpPr>
        <p:spPr>
          <a:xfrm>
            <a:off x="1828800" y="5577840"/>
            <a:ext cx="8412480" cy="420624"/>
          </a:xfrm>
          <a:prstGeom prst="roundRect">
            <a:avLst>
              <a:gd name="adj" fmla="val 13043"/>
            </a:avLst>
          </a:prstGeom>
          <a:solidFill>
            <a:srgbClr val="EAF4FB"/>
          </a:solidFill>
          <a:ln w="7620">
            <a:solidFill>
              <a:srgbClr val="84B8D7"/>
            </a:solidFill>
            <a:prstDash val="solid"/>
          </a:ln>
        </p:spPr>
      </p:sp>
      <p:sp>
        <p:nvSpPr>
          <p:cNvPr id="14" name="Text 12"/>
          <p:cNvSpPr/>
          <p:nvPr/>
        </p:nvSpPr>
        <p:spPr>
          <a:xfrm>
            <a:off x="1874520" y="5687568"/>
            <a:ext cx="8321040" cy="146304"/>
          </a:xfrm>
          <a:prstGeom prst="rect">
            <a:avLst/>
          </a:prstGeom>
          <a:noFill/>
          <a:ln/>
        </p:spPr>
        <p:txBody>
          <a:bodyPr wrap="square" rtlCol="0" anchor="ctr"/>
          <a:lstStyle/>
          <a:p>
            <a:pPr algn="ctr" indent="0" marL="0">
              <a:buNone/>
            </a:pPr>
            <a:r>
              <a:rPr lang="en-US" sz="1150" b="1" dirty="0">
                <a:solidFill>
                  <a:srgbClr val="17466E"/>
                </a:solidFill>
              </a:rPr>
              <a:t>Prepare  →  Model  →  Analyse  →  Recommend</a:t>
            </a:r>
            <a:endParaRPr lang="en-US" sz="1150" dirty="0"/>
          </a:p>
        </p:txBody>
      </p:sp>
      <p:sp>
        <p:nvSpPr>
          <p:cNvPr id="15" name="Text 13"/>
          <p:cNvSpPr/>
          <p:nvPr/>
        </p:nvSpPr>
        <p:spPr>
          <a:xfrm>
            <a:off x="411480" y="6492240"/>
            <a:ext cx="4572000" cy="164592"/>
          </a:xfrm>
          <a:prstGeom prst="rect">
            <a:avLst/>
          </a:prstGeom>
          <a:noFill/>
          <a:ln/>
        </p:spPr>
        <p:txBody>
          <a:bodyPr wrap="square" rtlCol="0" anchor="ctr"/>
          <a:lstStyle/>
          <a:p>
            <a:pPr indent="0" marL="0">
              <a:buNone/>
            </a:pPr>
            <a:r>
              <a:rPr lang="en-US" sz="660" dirty="0">
                <a:solidFill>
                  <a:srgbClr val="7A8790"/>
                </a:solidFill>
              </a:rPr>
              <a:t>Northstar Tutoring Analytics  ·  Power BI Portfolio</a:t>
            </a:r>
            <a:endParaRPr lang="en-US" sz="660" dirty="0"/>
          </a:p>
        </p:txBody>
      </p:sp>
      <p:sp>
        <p:nvSpPr>
          <p:cNvPr id="16" name="Text 14"/>
          <p:cNvSpPr/>
          <p:nvPr/>
        </p:nvSpPr>
        <p:spPr>
          <a:xfrm>
            <a:off x="11375136" y="6492240"/>
            <a:ext cx="320040" cy="164592"/>
          </a:xfrm>
          <a:prstGeom prst="rect">
            <a:avLst/>
          </a:prstGeom>
          <a:noFill/>
          <a:ln/>
        </p:spPr>
        <p:txBody>
          <a:bodyPr wrap="square" rtlCol="0" anchor="ctr"/>
          <a:lstStyle/>
          <a:p>
            <a:pPr algn="r" indent="0" marL="0">
              <a:buNone/>
            </a:pPr>
            <a:r>
              <a:rPr lang="en-US" sz="660" dirty="0">
                <a:solidFill>
                  <a:srgbClr val="7A8790"/>
                </a:solidFill>
              </a:rPr>
              <a:t>2</a:t>
            </a:r>
            <a:endParaRPr lang="en-US" sz="6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11480" y="146304"/>
            <a:ext cx="4846320" cy="201168"/>
          </a:xfrm>
          <a:prstGeom prst="rect">
            <a:avLst/>
          </a:prstGeom>
          <a:noFill/>
          <a:ln/>
        </p:spPr>
        <p:txBody>
          <a:bodyPr wrap="square" rtlCol="0" anchor="ctr"/>
          <a:lstStyle/>
          <a:p>
            <a:pPr indent="0" marL="0">
              <a:buNone/>
            </a:pPr>
            <a:r>
              <a:rPr lang="en-US" sz="750" b="1" dirty="0">
                <a:solidFill>
                  <a:srgbClr val="5B6770"/>
                </a:solidFill>
                <a:latin typeface="Aptos" pitchFamily="34" charset="0"/>
                <a:ea typeface="Aptos" pitchFamily="34" charset="-122"/>
                <a:cs typeface="Aptos" pitchFamily="34" charset="-120"/>
              </a:rPr>
              <a:t>Power BI PL-300  ·  Portfolio Project</a:t>
            </a:r>
            <a:endParaRPr lang="en-US" sz="750" dirty="0"/>
          </a:p>
        </p:txBody>
      </p:sp>
      <p:sp>
        <p:nvSpPr>
          <p:cNvPr id="3" name="Text 1"/>
          <p:cNvSpPr/>
          <p:nvPr/>
        </p:nvSpPr>
        <p:spPr>
          <a:xfrm>
            <a:off x="411480" y="420624"/>
            <a:ext cx="7680960" cy="384048"/>
          </a:xfrm>
          <a:prstGeom prst="rect">
            <a:avLst/>
          </a:prstGeom>
          <a:noFill/>
          <a:ln/>
        </p:spPr>
        <p:txBody>
          <a:bodyPr wrap="square" rtlCol="0" anchor="ctr">
            <a:normAutofit/>
          </a:bodyPr>
          <a:lstStyle/>
          <a:p>
            <a:pPr indent="0" marL="0">
              <a:buNone/>
            </a:pPr>
            <a:r>
              <a:rPr lang="en-US" sz="2000" b="1" dirty="0">
                <a:solidFill>
                  <a:srgbClr val="17466E"/>
                </a:solidFill>
                <a:latin typeface="Aptos Display" pitchFamily="34" charset="0"/>
                <a:ea typeface="Aptos Display" pitchFamily="34" charset="-122"/>
                <a:cs typeface="Aptos Display" pitchFamily="34" charset="-120"/>
              </a:rPr>
              <a:t>Dataset Overview</a:t>
            </a:r>
            <a:endParaRPr lang="en-US" sz="2000" dirty="0"/>
          </a:p>
        </p:txBody>
      </p:sp>
      <p:sp>
        <p:nvSpPr>
          <p:cNvPr id="4" name="Shape 2"/>
          <p:cNvSpPr/>
          <p:nvPr/>
        </p:nvSpPr>
        <p:spPr>
          <a:xfrm>
            <a:off x="411480" y="905256"/>
            <a:ext cx="11292840" cy="0"/>
          </a:xfrm>
          <a:prstGeom prst="line">
            <a:avLst/>
          </a:prstGeom>
          <a:noFill/>
          <a:ln w="15240">
            <a:solidFill>
              <a:srgbClr val="17466E"/>
            </a:solidFill>
            <a:prstDash val="solid"/>
          </a:ln>
        </p:spPr>
      </p:sp>
      <p:sp>
        <p:nvSpPr>
          <p:cNvPr id="5" name="Text 3"/>
          <p:cNvSpPr/>
          <p:nvPr/>
        </p:nvSpPr>
        <p:spPr>
          <a:xfrm>
            <a:off x="10972800" y="438912"/>
            <a:ext cx="640080" cy="182880"/>
          </a:xfrm>
          <a:prstGeom prst="rect">
            <a:avLst/>
          </a:prstGeom>
          <a:noFill/>
          <a:ln/>
        </p:spPr>
        <p:txBody>
          <a:bodyPr wrap="square" rtlCol="0" anchor="ctr"/>
          <a:lstStyle/>
          <a:p>
            <a:pPr algn="r" indent="0" marL="0">
              <a:buNone/>
            </a:pPr>
            <a:r>
              <a:rPr lang="en-US" sz="750" dirty="0">
                <a:solidFill>
                  <a:srgbClr val="5B6770"/>
                </a:solidFill>
              </a:rPr>
              <a:t>3 / 12</a:t>
            </a:r>
            <a:endParaRPr lang="en-US" sz="750" dirty="0"/>
          </a:p>
        </p:txBody>
      </p:sp>
      <p:sp>
        <p:nvSpPr>
          <p:cNvPr id="6" name="Shape 4"/>
          <p:cNvSpPr/>
          <p:nvPr/>
        </p:nvSpPr>
        <p:spPr>
          <a:xfrm>
            <a:off x="594360" y="1188720"/>
            <a:ext cx="1645920" cy="694944"/>
          </a:xfrm>
          <a:prstGeom prst="roundRect">
            <a:avLst>
              <a:gd name="adj" fmla="val 10526"/>
            </a:avLst>
          </a:prstGeom>
          <a:solidFill>
            <a:srgbClr val="F6F8FA"/>
          </a:solidFill>
          <a:ln w="8890">
            <a:solidFill>
              <a:srgbClr val="E9EDF0"/>
            </a:solidFill>
            <a:prstDash val="solid"/>
          </a:ln>
        </p:spPr>
      </p:sp>
      <p:sp>
        <p:nvSpPr>
          <p:cNvPr id="7" name="Text 5"/>
          <p:cNvSpPr/>
          <p:nvPr/>
        </p:nvSpPr>
        <p:spPr>
          <a:xfrm>
            <a:off x="704088" y="1298448"/>
            <a:ext cx="142646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520</a:t>
            </a:r>
            <a:endParaRPr lang="en-US" sz="1700" dirty="0"/>
          </a:p>
        </p:txBody>
      </p:sp>
      <p:sp>
        <p:nvSpPr>
          <p:cNvPr id="8" name="Text 6"/>
          <p:cNvSpPr/>
          <p:nvPr/>
        </p:nvSpPr>
        <p:spPr>
          <a:xfrm>
            <a:off x="704088" y="1618488"/>
            <a:ext cx="142646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Session records</a:t>
            </a:r>
            <a:endParaRPr lang="en-US" sz="770" dirty="0"/>
          </a:p>
        </p:txBody>
      </p:sp>
      <p:sp>
        <p:nvSpPr>
          <p:cNvPr id="9" name="Shape 7"/>
          <p:cNvSpPr/>
          <p:nvPr/>
        </p:nvSpPr>
        <p:spPr>
          <a:xfrm>
            <a:off x="2514600" y="1188720"/>
            <a:ext cx="1645920" cy="694944"/>
          </a:xfrm>
          <a:prstGeom prst="roundRect">
            <a:avLst>
              <a:gd name="adj" fmla="val 10526"/>
            </a:avLst>
          </a:prstGeom>
          <a:solidFill>
            <a:srgbClr val="F6F8FA"/>
          </a:solidFill>
          <a:ln w="8890">
            <a:solidFill>
              <a:srgbClr val="E9EDF0"/>
            </a:solidFill>
            <a:prstDash val="solid"/>
          </a:ln>
        </p:spPr>
      </p:sp>
      <p:sp>
        <p:nvSpPr>
          <p:cNvPr id="10" name="Text 8"/>
          <p:cNvSpPr/>
          <p:nvPr/>
        </p:nvSpPr>
        <p:spPr>
          <a:xfrm>
            <a:off x="2624328" y="1298448"/>
            <a:ext cx="142646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4</a:t>
            </a:r>
            <a:endParaRPr lang="en-US" sz="1700" dirty="0"/>
          </a:p>
        </p:txBody>
      </p:sp>
      <p:sp>
        <p:nvSpPr>
          <p:cNvPr id="11" name="Text 9"/>
          <p:cNvSpPr/>
          <p:nvPr/>
        </p:nvSpPr>
        <p:spPr>
          <a:xfrm>
            <a:off x="2624328" y="1618488"/>
            <a:ext cx="142646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Model tables</a:t>
            </a:r>
            <a:endParaRPr lang="en-US" sz="770" dirty="0"/>
          </a:p>
        </p:txBody>
      </p:sp>
      <p:sp>
        <p:nvSpPr>
          <p:cNvPr id="12" name="Shape 10"/>
          <p:cNvSpPr/>
          <p:nvPr/>
        </p:nvSpPr>
        <p:spPr>
          <a:xfrm>
            <a:off x="4434840" y="1188720"/>
            <a:ext cx="1645920" cy="694944"/>
          </a:xfrm>
          <a:prstGeom prst="roundRect">
            <a:avLst>
              <a:gd name="adj" fmla="val 10526"/>
            </a:avLst>
          </a:prstGeom>
          <a:solidFill>
            <a:srgbClr val="F6F8FA"/>
          </a:solidFill>
          <a:ln w="8890">
            <a:solidFill>
              <a:srgbClr val="E9EDF0"/>
            </a:solidFill>
            <a:prstDash val="solid"/>
          </a:ln>
        </p:spPr>
      </p:sp>
      <p:sp>
        <p:nvSpPr>
          <p:cNvPr id="13" name="Text 11"/>
          <p:cNvSpPr/>
          <p:nvPr/>
        </p:nvSpPr>
        <p:spPr>
          <a:xfrm>
            <a:off x="4544568" y="1298448"/>
            <a:ext cx="142646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80</a:t>
            </a:r>
            <a:endParaRPr lang="en-US" sz="1700" dirty="0"/>
          </a:p>
        </p:txBody>
      </p:sp>
      <p:sp>
        <p:nvSpPr>
          <p:cNvPr id="14" name="Text 12"/>
          <p:cNvSpPr/>
          <p:nvPr/>
        </p:nvSpPr>
        <p:spPr>
          <a:xfrm>
            <a:off x="4544568" y="1618488"/>
            <a:ext cx="142646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Registered students</a:t>
            </a:r>
            <a:endParaRPr lang="en-US" sz="770" dirty="0"/>
          </a:p>
        </p:txBody>
      </p:sp>
      <p:sp>
        <p:nvSpPr>
          <p:cNvPr id="15" name="Shape 13"/>
          <p:cNvSpPr/>
          <p:nvPr/>
        </p:nvSpPr>
        <p:spPr>
          <a:xfrm>
            <a:off x="6355080" y="1188720"/>
            <a:ext cx="1645920" cy="694944"/>
          </a:xfrm>
          <a:prstGeom prst="roundRect">
            <a:avLst>
              <a:gd name="adj" fmla="val 10526"/>
            </a:avLst>
          </a:prstGeom>
          <a:solidFill>
            <a:srgbClr val="F6F8FA"/>
          </a:solidFill>
          <a:ln w="8890">
            <a:solidFill>
              <a:srgbClr val="E9EDF0"/>
            </a:solidFill>
            <a:prstDash val="solid"/>
          </a:ln>
        </p:spPr>
      </p:sp>
      <p:sp>
        <p:nvSpPr>
          <p:cNvPr id="16" name="Text 14"/>
          <p:cNvSpPr/>
          <p:nvPr/>
        </p:nvSpPr>
        <p:spPr>
          <a:xfrm>
            <a:off x="6464808" y="1298448"/>
            <a:ext cx="142646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76</a:t>
            </a:r>
            <a:endParaRPr lang="en-US" sz="1700" dirty="0"/>
          </a:p>
        </p:txBody>
      </p:sp>
      <p:sp>
        <p:nvSpPr>
          <p:cNvPr id="17" name="Text 15"/>
          <p:cNvSpPr/>
          <p:nvPr/>
        </p:nvSpPr>
        <p:spPr>
          <a:xfrm>
            <a:off x="6464808" y="1618488"/>
            <a:ext cx="142646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Active students</a:t>
            </a:r>
            <a:endParaRPr lang="en-US" sz="770" dirty="0"/>
          </a:p>
        </p:txBody>
      </p:sp>
      <p:sp>
        <p:nvSpPr>
          <p:cNvPr id="18" name="Shape 16"/>
          <p:cNvSpPr/>
          <p:nvPr/>
        </p:nvSpPr>
        <p:spPr>
          <a:xfrm>
            <a:off x="8275320" y="1188720"/>
            <a:ext cx="1920240" cy="694944"/>
          </a:xfrm>
          <a:prstGeom prst="roundRect">
            <a:avLst>
              <a:gd name="adj" fmla="val 10526"/>
            </a:avLst>
          </a:prstGeom>
          <a:solidFill>
            <a:srgbClr val="F6F8FA"/>
          </a:solidFill>
          <a:ln w="8890">
            <a:solidFill>
              <a:srgbClr val="E9EDF0"/>
            </a:solidFill>
            <a:prstDash val="solid"/>
          </a:ln>
        </p:spPr>
      </p:sp>
      <p:sp>
        <p:nvSpPr>
          <p:cNvPr id="19" name="Text 17"/>
          <p:cNvSpPr/>
          <p:nvPr/>
        </p:nvSpPr>
        <p:spPr>
          <a:xfrm>
            <a:off x="8385048" y="1298448"/>
            <a:ext cx="170078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Jan 24–Jun 26</a:t>
            </a:r>
            <a:endParaRPr lang="en-US" sz="1700" dirty="0"/>
          </a:p>
        </p:txBody>
      </p:sp>
      <p:sp>
        <p:nvSpPr>
          <p:cNvPr id="20" name="Text 18"/>
          <p:cNvSpPr/>
          <p:nvPr/>
        </p:nvSpPr>
        <p:spPr>
          <a:xfrm>
            <a:off x="8385048" y="1618488"/>
            <a:ext cx="170078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Session window</a:t>
            </a:r>
            <a:endParaRPr lang="en-US" sz="77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4360" y="2148840"/>
          <a:ext cx="10881360" cy="1828800"/>
        </p:xfrm>
        <a:graphic>
          <a:graphicData uri="http://schemas.openxmlformats.org/drawingml/2006/table">
            <a:tbl>
              <a:tblPr/>
              <a:tblGrid>
                <a:gridCol w="1600200"/>
                <a:gridCol w="1188720"/>
                <a:gridCol w="731520"/>
                <a:gridCol w="7360920"/>
              </a:tblGrid>
              <a:tr h="365760">
                <a:tc>
                  <a:txBody>
                    <a:bodyPr/>
                    <a:lstStyle/>
                    <a:p>
                      <a:pPr indent="0" marL="0">
                        <a:buNone/>
                      </a:pPr>
                      <a:r>
                        <a:rPr lang="en-US" sz="820" b="1" dirty="0">
                          <a:solidFill>
                            <a:srgbClr val="FFFFFF"/>
                          </a:solidFill>
                        </a:rPr>
                        <a:t>Table</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c>
                  <a:txBody>
                    <a:bodyPr/>
                    <a:lstStyle/>
                    <a:p>
                      <a:pPr indent="0" marL="0">
                        <a:buNone/>
                      </a:pPr>
                      <a:r>
                        <a:rPr lang="en-US" sz="820" b="1" dirty="0">
                          <a:solidFill>
                            <a:srgbClr val="FFFFFF"/>
                          </a:solidFill>
                        </a:rPr>
                        <a:t>Role</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c>
                  <a:txBody>
                    <a:bodyPr/>
                    <a:lstStyle/>
                    <a:p>
                      <a:pPr indent="0" marL="0">
                        <a:buNone/>
                      </a:pPr>
                      <a:r>
                        <a:rPr lang="en-US" sz="820" b="1" dirty="0">
                          <a:solidFill>
                            <a:srgbClr val="FFFFFF"/>
                          </a:solidFill>
                        </a:rPr>
                        <a:t>Rows</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c>
                  <a:txBody>
                    <a:bodyPr/>
                    <a:lstStyle/>
                    <a:p>
                      <a:pPr indent="0" marL="0">
                        <a:buNone/>
                      </a:pPr>
                      <a:r>
                        <a:rPr lang="en-US" sz="820" b="1" dirty="0">
                          <a:solidFill>
                            <a:srgbClr val="FFFFFF"/>
                          </a:solidFill>
                        </a:rPr>
                        <a:t>What it holds</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r>
              <a:tr h="365760">
                <a:tc>
                  <a:txBody>
                    <a:bodyPr/>
                    <a:lstStyle/>
                    <a:p>
                      <a:pPr indent="0" marL="0">
                        <a:buNone/>
                      </a:pPr>
                      <a:r>
                        <a:rPr lang="en-US" sz="820" dirty="0">
                          <a:solidFill>
                            <a:srgbClr val="1F2933"/>
                          </a:solidFill>
                        </a:rPr>
                        <a:t>FactSessions</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20" dirty="0">
                          <a:solidFill>
                            <a:srgbClr val="1F2933"/>
                          </a:solidFill>
                        </a:rPr>
                        <a:t>Fact</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20" dirty="0">
                          <a:solidFill>
                            <a:srgbClr val="1F2933"/>
                          </a:solidFill>
                        </a:rPr>
                        <a:t>520</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20" dirty="0">
                          <a:solidFill>
                            <a:srgbClr val="1F2933"/>
                          </a:solidFill>
                        </a:rPr>
                        <a:t>Session date, student, tutor, subject, status, delivery mode, revenue and satisfaction.</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365760">
                <a:tc>
                  <a:txBody>
                    <a:bodyPr/>
                    <a:lstStyle/>
                    <a:p>
                      <a:pPr indent="0" marL="0">
                        <a:buNone/>
                      </a:pPr>
                      <a:r>
                        <a:rPr lang="en-US" sz="820" dirty="0">
                          <a:solidFill>
                            <a:srgbClr val="1F2933"/>
                          </a:solidFill>
                        </a:rPr>
                        <a:t>DimStudents</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20" dirty="0">
                          <a:solidFill>
                            <a:srgbClr val="1F2933"/>
                          </a:solidFill>
                        </a:rPr>
                        <a:t>Dimension</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20" dirty="0">
                          <a:solidFill>
                            <a:srgbClr val="1F2933"/>
                          </a:solidFill>
                        </a:rPr>
                        <a:t>80</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20" dirty="0">
                          <a:solidFill>
                            <a:srgbClr val="1F2933"/>
                          </a:solidFill>
                        </a:rPr>
                        <a:t>Year group, region, school type, referral source and start date.</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r h="365760">
                <a:tc>
                  <a:txBody>
                    <a:bodyPr/>
                    <a:lstStyle/>
                    <a:p>
                      <a:pPr indent="0" marL="0">
                        <a:buNone/>
                      </a:pPr>
                      <a:r>
                        <a:rPr lang="en-US" sz="820" dirty="0">
                          <a:solidFill>
                            <a:srgbClr val="1F2933"/>
                          </a:solidFill>
                        </a:rPr>
                        <a:t>DimTutors</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20" dirty="0">
                          <a:solidFill>
                            <a:srgbClr val="1F2933"/>
                          </a:solidFill>
                        </a:rPr>
                        <a:t>Dimension</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20" dirty="0">
                          <a:solidFill>
                            <a:srgbClr val="1F2933"/>
                          </a:solidFill>
                        </a:rPr>
                        <a:t>8</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20" dirty="0">
                          <a:solidFill>
                            <a:srgbClr val="1F2933"/>
                          </a:solidFill>
                        </a:rPr>
                        <a:t>Tutor name, experience level, pay rate and subject specialism.</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365760">
                <a:tc>
                  <a:txBody>
                    <a:bodyPr/>
                    <a:lstStyle/>
                    <a:p>
                      <a:pPr indent="0" marL="0">
                        <a:buNone/>
                      </a:pPr>
                      <a:r>
                        <a:rPr lang="en-US" sz="820" dirty="0">
                          <a:solidFill>
                            <a:srgbClr val="1F2933"/>
                          </a:solidFill>
                        </a:rPr>
                        <a:t>DimSubjects</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20" dirty="0">
                          <a:solidFill>
                            <a:srgbClr val="1F2933"/>
                          </a:solidFill>
                        </a:rPr>
                        <a:t>Dimension</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20" dirty="0">
                          <a:solidFill>
                            <a:srgbClr val="1F2933"/>
                          </a:solidFill>
                        </a:rPr>
                        <a:t>10</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20" dirty="0">
                          <a:solidFill>
                            <a:srgbClr val="1F2933"/>
                          </a:solidFill>
                        </a:rPr>
                        <a:t>Subject, level, category and default online rate.</a:t>
                      </a:r>
                      <a:endParaRPr lang="en-US" sz="82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bl>
          </a:graphicData>
        </a:graphic>
      </p:graphicFrame>
      <p:sp>
        <p:nvSpPr>
          <p:cNvPr id="22" name="Text 19"/>
          <p:cNvSpPr/>
          <p:nvPr/>
        </p:nvSpPr>
        <p:spPr>
          <a:xfrm>
            <a:off x="594360" y="4370832"/>
            <a:ext cx="2743200" cy="228600"/>
          </a:xfrm>
          <a:prstGeom prst="rect">
            <a:avLst/>
          </a:prstGeom>
          <a:noFill/>
          <a:ln/>
        </p:spPr>
        <p:txBody>
          <a:bodyPr wrap="square" rtlCol="0" anchor="ctr"/>
          <a:lstStyle/>
          <a:p>
            <a:pPr indent="0" marL="0">
              <a:buNone/>
            </a:pPr>
            <a:r>
              <a:rPr lang="en-US" sz="840" b="1" dirty="0">
                <a:solidFill>
                  <a:srgbClr val="17466E"/>
                </a:solidFill>
              </a:rPr>
              <a:t>DATASET RELEVANCE</a:t>
            </a:r>
            <a:endParaRPr lang="en-US" sz="840" dirty="0"/>
          </a:p>
        </p:txBody>
      </p:sp>
      <p:sp>
        <p:nvSpPr>
          <p:cNvPr id="23" name="Text 20"/>
          <p:cNvSpPr/>
          <p:nvPr/>
        </p:nvSpPr>
        <p:spPr>
          <a:xfrm>
            <a:off x="594360" y="4645152"/>
            <a:ext cx="5486400" cy="777240"/>
          </a:xfrm>
          <a:prstGeom prst="rect">
            <a:avLst/>
          </a:prstGeom>
          <a:noFill/>
          <a:ln/>
        </p:spPr>
        <p:txBody>
          <a:bodyPr wrap="square" lIns="254" tIns="254" rIns="254" bIns="254" rtlCol="0" anchor="t">
            <a:normAutofit/>
          </a:bodyPr>
          <a:lstStyle/>
          <a:p>
            <a:pPr indent="0" marL="0">
              <a:buNone/>
            </a:pPr>
            <a:r>
              <a:rPr lang="en-US" sz="1220" dirty="0">
                <a:solidFill>
                  <a:srgbClr val="1F2933"/>
                </a:solidFill>
              </a:rPr>
              <a:t>The fact table records both commercial outcomes (charged amount, delivery mode, duration) and operational outcomes (completion status and satisfaction). That means the same model can support revenue, profitability, completion and quality analysis without rebuilding the data.</a:t>
            </a:r>
            <a:endParaRPr lang="en-US" sz="1220" dirty="0"/>
          </a:p>
        </p:txBody>
      </p:sp>
      <p:sp>
        <p:nvSpPr>
          <p:cNvPr id="24" name="Text 21"/>
          <p:cNvSpPr/>
          <p:nvPr/>
        </p:nvSpPr>
        <p:spPr>
          <a:xfrm>
            <a:off x="6583680" y="4370832"/>
            <a:ext cx="2926080" cy="228600"/>
          </a:xfrm>
          <a:prstGeom prst="rect">
            <a:avLst/>
          </a:prstGeom>
          <a:noFill/>
          <a:ln/>
        </p:spPr>
        <p:txBody>
          <a:bodyPr wrap="square" rtlCol="0" anchor="ctr"/>
          <a:lstStyle/>
          <a:p>
            <a:pPr indent="0" marL="0">
              <a:buNone/>
            </a:pPr>
            <a:r>
              <a:rPr lang="en-US" sz="840" b="1" dirty="0">
                <a:solidFill>
                  <a:srgbClr val="E79862"/>
                </a:solidFill>
              </a:rPr>
              <a:t>IMPORTANT INTERPRETATION</a:t>
            </a:r>
            <a:endParaRPr lang="en-US" sz="840" dirty="0"/>
          </a:p>
        </p:txBody>
      </p:sp>
      <p:sp>
        <p:nvSpPr>
          <p:cNvPr id="25" name="Text 22"/>
          <p:cNvSpPr/>
          <p:nvPr/>
        </p:nvSpPr>
        <p:spPr>
          <a:xfrm>
            <a:off x="6583680" y="4645152"/>
            <a:ext cx="4480560" cy="777240"/>
          </a:xfrm>
          <a:prstGeom prst="rect">
            <a:avLst/>
          </a:prstGeom>
          <a:noFill/>
          <a:ln/>
        </p:spPr>
        <p:txBody>
          <a:bodyPr wrap="square" lIns="254" tIns="254" rIns="254" bIns="254" rtlCol="0" anchor="t">
            <a:normAutofit/>
          </a:bodyPr>
          <a:lstStyle/>
          <a:p>
            <a:pPr indent="0" marL="0">
              <a:buNone/>
            </a:pPr>
            <a:r>
              <a:rPr lang="en-US" sz="1220" dirty="0">
                <a:solidFill>
                  <a:srgbClr val="1F2933"/>
                </a:solidFill>
              </a:rPr>
              <a:t>Four registered students do not appear in the session fact table. I therefore separate “registered students” from “active students” rather than treating both as the same metric.</a:t>
            </a:r>
            <a:endParaRPr lang="en-US" sz="1220" dirty="0"/>
          </a:p>
        </p:txBody>
      </p:sp>
      <p:sp>
        <p:nvSpPr>
          <p:cNvPr id="26" name="Text 23"/>
          <p:cNvSpPr/>
          <p:nvPr/>
        </p:nvSpPr>
        <p:spPr>
          <a:xfrm>
            <a:off x="411480" y="6492240"/>
            <a:ext cx="4572000" cy="164592"/>
          </a:xfrm>
          <a:prstGeom prst="rect">
            <a:avLst/>
          </a:prstGeom>
          <a:noFill/>
          <a:ln/>
        </p:spPr>
        <p:txBody>
          <a:bodyPr wrap="square" rtlCol="0" anchor="ctr"/>
          <a:lstStyle/>
          <a:p>
            <a:pPr indent="0" marL="0">
              <a:buNone/>
            </a:pPr>
            <a:r>
              <a:rPr lang="en-US" sz="660" dirty="0">
                <a:solidFill>
                  <a:srgbClr val="7A8790"/>
                </a:solidFill>
              </a:rPr>
              <a:t>Northstar Tutoring Analytics  ·  Power BI Portfolio</a:t>
            </a:r>
            <a:endParaRPr lang="en-US" sz="660" dirty="0"/>
          </a:p>
        </p:txBody>
      </p:sp>
      <p:sp>
        <p:nvSpPr>
          <p:cNvPr id="27" name="Text 24"/>
          <p:cNvSpPr/>
          <p:nvPr/>
        </p:nvSpPr>
        <p:spPr>
          <a:xfrm>
            <a:off x="11375136" y="6492240"/>
            <a:ext cx="320040" cy="164592"/>
          </a:xfrm>
          <a:prstGeom prst="rect">
            <a:avLst/>
          </a:prstGeom>
          <a:noFill/>
          <a:ln/>
        </p:spPr>
        <p:txBody>
          <a:bodyPr wrap="square" rtlCol="0" anchor="ctr"/>
          <a:lstStyle/>
          <a:p>
            <a:pPr algn="r" indent="0" marL="0">
              <a:buNone/>
            </a:pPr>
            <a:r>
              <a:rPr lang="en-US" sz="660" dirty="0">
                <a:solidFill>
                  <a:srgbClr val="7A8790"/>
                </a:solidFill>
              </a:rPr>
              <a:t>3</a:t>
            </a:r>
            <a:endParaRPr lang="en-US" sz="6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11480" y="146304"/>
            <a:ext cx="4846320" cy="201168"/>
          </a:xfrm>
          <a:prstGeom prst="rect">
            <a:avLst/>
          </a:prstGeom>
          <a:noFill/>
          <a:ln/>
        </p:spPr>
        <p:txBody>
          <a:bodyPr wrap="square" rtlCol="0" anchor="ctr"/>
          <a:lstStyle/>
          <a:p>
            <a:pPr indent="0" marL="0">
              <a:buNone/>
            </a:pPr>
            <a:r>
              <a:rPr lang="en-US" sz="750" b="1" dirty="0">
                <a:solidFill>
                  <a:srgbClr val="5B6770"/>
                </a:solidFill>
                <a:latin typeface="Aptos" pitchFamily="34" charset="0"/>
                <a:ea typeface="Aptos" pitchFamily="34" charset="-122"/>
                <a:cs typeface="Aptos" pitchFamily="34" charset="-120"/>
              </a:rPr>
              <a:t>Power BI PL-300  ·  Portfolio Project</a:t>
            </a:r>
            <a:endParaRPr lang="en-US" sz="750" dirty="0"/>
          </a:p>
        </p:txBody>
      </p:sp>
      <p:sp>
        <p:nvSpPr>
          <p:cNvPr id="3" name="Text 1"/>
          <p:cNvSpPr/>
          <p:nvPr/>
        </p:nvSpPr>
        <p:spPr>
          <a:xfrm>
            <a:off x="411480" y="420624"/>
            <a:ext cx="7680960" cy="384048"/>
          </a:xfrm>
          <a:prstGeom prst="rect">
            <a:avLst/>
          </a:prstGeom>
          <a:noFill/>
          <a:ln/>
        </p:spPr>
        <p:txBody>
          <a:bodyPr wrap="square" rtlCol="0" anchor="ctr">
            <a:normAutofit/>
          </a:bodyPr>
          <a:lstStyle/>
          <a:p>
            <a:pPr indent="0" marL="0">
              <a:buNone/>
            </a:pPr>
            <a:r>
              <a:rPr lang="en-US" sz="2000" b="1" dirty="0">
                <a:solidFill>
                  <a:srgbClr val="17466E"/>
                </a:solidFill>
                <a:latin typeface="Aptos Display" pitchFamily="34" charset="0"/>
                <a:ea typeface="Aptos Display" pitchFamily="34" charset="-122"/>
                <a:cs typeface="Aptos Display" pitchFamily="34" charset="-120"/>
              </a:rPr>
              <a:t>Dataset Structure</a:t>
            </a:r>
            <a:endParaRPr lang="en-US" sz="2000" dirty="0"/>
          </a:p>
        </p:txBody>
      </p:sp>
      <p:sp>
        <p:nvSpPr>
          <p:cNvPr id="4" name="Shape 2"/>
          <p:cNvSpPr/>
          <p:nvPr/>
        </p:nvSpPr>
        <p:spPr>
          <a:xfrm>
            <a:off x="411480" y="905256"/>
            <a:ext cx="11292840" cy="0"/>
          </a:xfrm>
          <a:prstGeom prst="line">
            <a:avLst/>
          </a:prstGeom>
          <a:noFill/>
          <a:ln w="15240">
            <a:solidFill>
              <a:srgbClr val="17466E"/>
            </a:solidFill>
            <a:prstDash val="solid"/>
          </a:ln>
        </p:spPr>
      </p:sp>
      <p:sp>
        <p:nvSpPr>
          <p:cNvPr id="5" name="Text 3"/>
          <p:cNvSpPr/>
          <p:nvPr/>
        </p:nvSpPr>
        <p:spPr>
          <a:xfrm>
            <a:off x="10972800" y="438912"/>
            <a:ext cx="640080" cy="182880"/>
          </a:xfrm>
          <a:prstGeom prst="rect">
            <a:avLst/>
          </a:prstGeom>
          <a:noFill/>
          <a:ln/>
        </p:spPr>
        <p:txBody>
          <a:bodyPr wrap="square" rtlCol="0" anchor="ctr"/>
          <a:lstStyle/>
          <a:p>
            <a:pPr algn="r" indent="0" marL="0">
              <a:buNone/>
            </a:pPr>
            <a:r>
              <a:rPr lang="en-US" sz="750" dirty="0">
                <a:solidFill>
                  <a:srgbClr val="5B6770"/>
                </a:solidFill>
              </a:rPr>
              <a:t>4 / 12</a:t>
            </a:r>
            <a:endParaRPr lang="en-US" sz="750" dirty="0"/>
          </a:p>
        </p:txBody>
      </p:sp>
      <p:sp>
        <p:nvSpPr>
          <p:cNvPr id="6" name="Shape 4"/>
          <p:cNvSpPr/>
          <p:nvPr/>
        </p:nvSpPr>
        <p:spPr>
          <a:xfrm>
            <a:off x="3794760" y="2130552"/>
            <a:ext cx="822960" cy="713232"/>
          </a:xfrm>
          <a:prstGeom prst="line">
            <a:avLst/>
          </a:prstGeom>
          <a:noFill/>
          <a:ln w="15240">
            <a:solidFill>
              <a:srgbClr val="5B6770"/>
            </a:solidFill>
            <a:prstDash val="solid"/>
            <a:headEnd type="none"/>
            <a:tailEnd type="triangle"/>
          </a:ln>
        </p:spPr>
      </p:sp>
      <p:sp>
        <p:nvSpPr>
          <p:cNvPr id="7" name="Shape 5"/>
          <p:cNvSpPr/>
          <p:nvPr/>
        </p:nvSpPr>
        <p:spPr>
          <a:xfrm>
            <a:off x="7452360" y="2130552"/>
            <a:ext cx="-731520" cy="713232"/>
          </a:xfrm>
          <a:prstGeom prst="line">
            <a:avLst/>
          </a:prstGeom>
          <a:noFill/>
          <a:ln w="15240">
            <a:solidFill>
              <a:srgbClr val="5B6770"/>
            </a:solidFill>
            <a:prstDash val="solid"/>
            <a:headEnd type="none"/>
            <a:tailEnd type="triangle"/>
          </a:ln>
        </p:spPr>
      </p:sp>
      <p:sp>
        <p:nvSpPr>
          <p:cNvPr id="8" name="Shape 6"/>
          <p:cNvSpPr/>
          <p:nvPr/>
        </p:nvSpPr>
        <p:spPr>
          <a:xfrm>
            <a:off x="3794760" y="4407408"/>
            <a:ext cx="822960" cy="-795528"/>
          </a:xfrm>
          <a:prstGeom prst="line">
            <a:avLst/>
          </a:prstGeom>
          <a:noFill/>
          <a:ln w="15240">
            <a:solidFill>
              <a:srgbClr val="5B6770"/>
            </a:solidFill>
            <a:prstDash val="solid"/>
            <a:headEnd type="none"/>
            <a:tailEnd type="triangle"/>
          </a:ln>
        </p:spPr>
      </p:sp>
      <p:sp>
        <p:nvSpPr>
          <p:cNvPr id="9" name="Shape 7"/>
          <p:cNvSpPr/>
          <p:nvPr/>
        </p:nvSpPr>
        <p:spPr>
          <a:xfrm>
            <a:off x="7452360" y="4407408"/>
            <a:ext cx="-731520" cy="-795528"/>
          </a:xfrm>
          <a:prstGeom prst="line">
            <a:avLst/>
          </a:prstGeom>
          <a:noFill/>
          <a:ln w="15240">
            <a:solidFill>
              <a:srgbClr val="5B6770"/>
            </a:solidFill>
            <a:prstDash val="solid"/>
            <a:headEnd type="none"/>
            <a:tailEnd type="triangle"/>
          </a:ln>
        </p:spPr>
      </p:sp>
      <p:sp>
        <p:nvSpPr>
          <p:cNvPr id="10" name="Shape 8"/>
          <p:cNvSpPr/>
          <p:nvPr/>
        </p:nvSpPr>
        <p:spPr>
          <a:xfrm>
            <a:off x="914400" y="1417320"/>
            <a:ext cx="2880360" cy="1417320"/>
          </a:xfrm>
          <a:prstGeom prst="roundRect">
            <a:avLst>
              <a:gd name="adj" fmla="val 5161"/>
            </a:avLst>
          </a:prstGeom>
          <a:solidFill>
            <a:srgbClr val="EAF4FB"/>
          </a:solidFill>
          <a:ln w="13970">
            <a:solidFill>
              <a:srgbClr val="84B8D7"/>
            </a:solidFill>
            <a:prstDash val="solid"/>
          </a:ln>
        </p:spPr>
      </p:sp>
      <p:sp>
        <p:nvSpPr>
          <p:cNvPr id="11" name="Text 9"/>
          <p:cNvSpPr/>
          <p:nvPr/>
        </p:nvSpPr>
        <p:spPr>
          <a:xfrm>
            <a:off x="987552" y="1490472"/>
            <a:ext cx="2734056" cy="228600"/>
          </a:xfrm>
          <a:prstGeom prst="rect">
            <a:avLst/>
          </a:prstGeom>
          <a:noFill/>
          <a:ln/>
        </p:spPr>
        <p:txBody>
          <a:bodyPr wrap="square" lIns="0" tIns="0" rIns="0" bIns="0" rtlCol="0" anchor="ctr"/>
          <a:lstStyle/>
          <a:p>
            <a:pPr indent="0" marL="0">
              <a:buNone/>
            </a:pPr>
            <a:r>
              <a:rPr lang="en-US" sz="1100" b="1" dirty="0">
                <a:solidFill>
                  <a:srgbClr val="17466E"/>
                </a:solidFill>
              </a:rPr>
              <a:t>DimStudents</a:t>
            </a:r>
            <a:endParaRPr lang="en-US" sz="1100" dirty="0"/>
          </a:p>
        </p:txBody>
      </p:sp>
      <p:sp>
        <p:nvSpPr>
          <p:cNvPr id="12" name="Text 10"/>
          <p:cNvSpPr/>
          <p:nvPr/>
        </p:nvSpPr>
        <p:spPr>
          <a:xfrm>
            <a:off x="1024128" y="1801368"/>
            <a:ext cx="2660904" cy="960120"/>
          </a:xfrm>
          <a:prstGeom prst="rect">
            <a:avLst/>
          </a:prstGeom>
          <a:noFill/>
          <a:ln/>
        </p:spPr>
        <p:txBody>
          <a:bodyPr wrap="square" lIns="0" tIns="0" rIns="0" bIns="0" rtlCol="0" anchor="ctr">
            <a:normAutofit/>
          </a:bodyPr>
          <a:lstStyle/>
          <a:p>
            <a:pPr indent="0" marL="0">
              <a:buNone/>
            </a:pPr>
            <a:r>
              <a:rPr lang="en-US" sz="760" dirty="0">
                <a:solidFill>
                  <a:srgbClr val="5B6770"/>
                </a:solidFill>
              </a:rPr>
              <a:t>StudentKey</a:t>
            </a:r>
            <a:endParaRPr lang="en-US" sz="760" dirty="0"/>
          </a:p>
          <a:p>
            <a:pPr indent="0" marL="0">
              <a:buNone/>
            </a:pPr>
            <a:r>
              <a:rPr lang="en-US" sz="760" dirty="0">
                <a:solidFill>
                  <a:srgbClr val="5B6770"/>
                </a:solidFill>
              </a:rPr>
              <a:t>YearGroup</a:t>
            </a:r>
            <a:endParaRPr lang="en-US" sz="760" dirty="0"/>
          </a:p>
          <a:p>
            <a:pPr indent="0" marL="0">
              <a:buNone/>
            </a:pPr>
            <a:r>
              <a:rPr lang="en-US" sz="760" dirty="0">
                <a:solidFill>
                  <a:srgbClr val="5B6770"/>
                </a:solidFill>
              </a:rPr>
              <a:t>Region</a:t>
            </a:r>
            <a:endParaRPr lang="en-US" sz="760" dirty="0"/>
          </a:p>
          <a:p>
            <a:pPr indent="0" marL="0">
              <a:buNone/>
            </a:pPr>
            <a:r>
              <a:rPr lang="en-US" sz="760" dirty="0">
                <a:solidFill>
                  <a:srgbClr val="5B6770"/>
                </a:solidFill>
              </a:rPr>
              <a:t>SchoolType</a:t>
            </a:r>
            <a:endParaRPr lang="en-US" sz="760" dirty="0"/>
          </a:p>
          <a:p>
            <a:pPr indent="0" marL="0">
              <a:buNone/>
            </a:pPr>
            <a:r>
              <a:rPr lang="en-US" sz="760" dirty="0">
                <a:solidFill>
                  <a:srgbClr val="5B6770"/>
                </a:solidFill>
              </a:rPr>
              <a:t>ReferralSource</a:t>
            </a:r>
            <a:endParaRPr lang="en-US" sz="760" dirty="0"/>
          </a:p>
        </p:txBody>
      </p:sp>
      <p:sp>
        <p:nvSpPr>
          <p:cNvPr id="13" name="Shape 11"/>
          <p:cNvSpPr/>
          <p:nvPr/>
        </p:nvSpPr>
        <p:spPr>
          <a:xfrm>
            <a:off x="7452360" y="1417320"/>
            <a:ext cx="2880360" cy="1417320"/>
          </a:xfrm>
          <a:prstGeom prst="roundRect">
            <a:avLst>
              <a:gd name="adj" fmla="val 5161"/>
            </a:avLst>
          </a:prstGeom>
          <a:solidFill>
            <a:srgbClr val="EAF4FB"/>
          </a:solidFill>
          <a:ln w="13970">
            <a:solidFill>
              <a:srgbClr val="84B8D7"/>
            </a:solidFill>
            <a:prstDash val="solid"/>
          </a:ln>
        </p:spPr>
      </p:sp>
      <p:sp>
        <p:nvSpPr>
          <p:cNvPr id="14" name="Text 12"/>
          <p:cNvSpPr/>
          <p:nvPr/>
        </p:nvSpPr>
        <p:spPr>
          <a:xfrm>
            <a:off x="7525512" y="1490472"/>
            <a:ext cx="2734056" cy="228600"/>
          </a:xfrm>
          <a:prstGeom prst="rect">
            <a:avLst/>
          </a:prstGeom>
          <a:noFill/>
          <a:ln/>
        </p:spPr>
        <p:txBody>
          <a:bodyPr wrap="square" lIns="0" tIns="0" rIns="0" bIns="0" rtlCol="0" anchor="ctr"/>
          <a:lstStyle/>
          <a:p>
            <a:pPr indent="0" marL="0">
              <a:buNone/>
            </a:pPr>
            <a:r>
              <a:rPr lang="en-US" sz="1100" b="1" dirty="0">
                <a:solidFill>
                  <a:srgbClr val="17466E"/>
                </a:solidFill>
              </a:rPr>
              <a:t>DimSubjects</a:t>
            </a:r>
            <a:endParaRPr lang="en-US" sz="1100" dirty="0"/>
          </a:p>
        </p:txBody>
      </p:sp>
      <p:sp>
        <p:nvSpPr>
          <p:cNvPr id="15" name="Text 13"/>
          <p:cNvSpPr/>
          <p:nvPr/>
        </p:nvSpPr>
        <p:spPr>
          <a:xfrm>
            <a:off x="7562088" y="1801368"/>
            <a:ext cx="2660904" cy="960120"/>
          </a:xfrm>
          <a:prstGeom prst="rect">
            <a:avLst/>
          </a:prstGeom>
          <a:noFill/>
          <a:ln/>
        </p:spPr>
        <p:txBody>
          <a:bodyPr wrap="square" lIns="0" tIns="0" rIns="0" bIns="0" rtlCol="0" anchor="ctr">
            <a:normAutofit/>
          </a:bodyPr>
          <a:lstStyle/>
          <a:p>
            <a:pPr indent="0" marL="0">
              <a:buNone/>
            </a:pPr>
            <a:r>
              <a:rPr lang="en-US" sz="760" dirty="0">
                <a:solidFill>
                  <a:srgbClr val="5B6770"/>
                </a:solidFill>
              </a:rPr>
              <a:t>SubjectKey</a:t>
            </a:r>
            <a:endParaRPr lang="en-US" sz="760" dirty="0"/>
          </a:p>
          <a:p>
            <a:pPr indent="0" marL="0">
              <a:buNone/>
            </a:pPr>
            <a:r>
              <a:rPr lang="en-US" sz="760" dirty="0">
                <a:solidFill>
                  <a:srgbClr val="5B6770"/>
                </a:solidFill>
              </a:rPr>
              <a:t>Subject</a:t>
            </a:r>
            <a:endParaRPr lang="en-US" sz="760" dirty="0"/>
          </a:p>
          <a:p>
            <a:pPr indent="0" marL="0">
              <a:buNone/>
            </a:pPr>
            <a:r>
              <a:rPr lang="en-US" sz="760" dirty="0">
                <a:solidFill>
                  <a:srgbClr val="5B6770"/>
                </a:solidFill>
              </a:rPr>
              <a:t>Level</a:t>
            </a:r>
            <a:endParaRPr lang="en-US" sz="760" dirty="0"/>
          </a:p>
          <a:p>
            <a:pPr indent="0" marL="0">
              <a:buNone/>
            </a:pPr>
            <a:r>
              <a:rPr lang="en-US" sz="760" dirty="0">
                <a:solidFill>
                  <a:srgbClr val="5B6770"/>
                </a:solidFill>
              </a:rPr>
              <a:t>Category</a:t>
            </a:r>
            <a:endParaRPr lang="en-US" sz="760" dirty="0"/>
          </a:p>
          <a:p>
            <a:pPr indent="0" marL="0">
              <a:buNone/>
            </a:pPr>
            <a:r>
              <a:rPr lang="en-US" sz="760" dirty="0">
                <a:solidFill>
                  <a:srgbClr val="5B6770"/>
                </a:solidFill>
              </a:rPr>
              <a:t>DefaultOnlineRate</a:t>
            </a:r>
            <a:endParaRPr lang="en-US" sz="760" dirty="0"/>
          </a:p>
        </p:txBody>
      </p:sp>
      <p:sp>
        <p:nvSpPr>
          <p:cNvPr id="16" name="Shape 14"/>
          <p:cNvSpPr/>
          <p:nvPr/>
        </p:nvSpPr>
        <p:spPr>
          <a:xfrm>
            <a:off x="914400" y="3703320"/>
            <a:ext cx="2880360" cy="1417320"/>
          </a:xfrm>
          <a:prstGeom prst="roundRect">
            <a:avLst>
              <a:gd name="adj" fmla="val 5161"/>
            </a:avLst>
          </a:prstGeom>
          <a:solidFill>
            <a:srgbClr val="EAF4FB"/>
          </a:solidFill>
          <a:ln w="13970">
            <a:solidFill>
              <a:srgbClr val="84B8D7"/>
            </a:solidFill>
            <a:prstDash val="solid"/>
          </a:ln>
        </p:spPr>
      </p:sp>
      <p:sp>
        <p:nvSpPr>
          <p:cNvPr id="17" name="Text 15"/>
          <p:cNvSpPr/>
          <p:nvPr/>
        </p:nvSpPr>
        <p:spPr>
          <a:xfrm>
            <a:off x="987552" y="3776472"/>
            <a:ext cx="2734056" cy="228600"/>
          </a:xfrm>
          <a:prstGeom prst="rect">
            <a:avLst/>
          </a:prstGeom>
          <a:noFill/>
          <a:ln/>
        </p:spPr>
        <p:txBody>
          <a:bodyPr wrap="square" lIns="0" tIns="0" rIns="0" bIns="0" rtlCol="0" anchor="ctr"/>
          <a:lstStyle/>
          <a:p>
            <a:pPr indent="0" marL="0">
              <a:buNone/>
            </a:pPr>
            <a:r>
              <a:rPr lang="en-US" sz="1100" b="1" dirty="0">
                <a:solidFill>
                  <a:srgbClr val="17466E"/>
                </a:solidFill>
              </a:rPr>
              <a:t>DimTutors</a:t>
            </a:r>
            <a:endParaRPr lang="en-US" sz="1100" dirty="0"/>
          </a:p>
        </p:txBody>
      </p:sp>
      <p:sp>
        <p:nvSpPr>
          <p:cNvPr id="18" name="Text 16"/>
          <p:cNvSpPr/>
          <p:nvPr/>
        </p:nvSpPr>
        <p:spPr>
          <a:xfrm>
            <a:off x="1024128" y="4087368"/>
            <a:ext cx="2660904" cy="960120"/>
          </a:xfrm>
          <a:prstGeom prst="rect">
            <a:avLst/>
          </a:prstGeom>
          <a:noFill/>
          <a:ln/>
        </p:spPr>
        <p:txBody>
          <a:bodyPr wrap="square" lIns="0" tIns="0" rIns="0" bIns="0" rtlCol="0" anchor="ctr">
            <a:normAutofit/>
          </a:bodyPr>
          <a:lstStyle/>
          <a:p>
            <a:pPr indent="0" marL="0">
              <a:buNone/>
            </a:pPr>
            <a:r>
              <a:rPr lang="en-US" sz="760" dirty="0">
                <a:solidFill>
                  <a:srgbClr val="5B6770"/>
                </a:solidFill>
              </a:rPr>
              <a:t>TutorKey</a:t>
            </a:r>
            <a:endParaRPr lang="en-US" sz="760" dirty="0"/>
          </a:p>
          <a:p>
            <a:pPr indent="0" marL="0">
              <a:buNone/>
            </a:pPr>
            <a:r>
              <a:rPr lang="en-US" sz="760" dirty="0">
                <a:solidFill>
                  <a:srgbClr val="5B6770"/>
                </a:solidFill>
              </a:rPr>
              <a:t>TutorName</a:t>
            </a:r>
            <a:endParaRPr lang="en-US" sz="760" dirty="0"/>
          </a:p>
          <a:p>
            <a:pPr indent="0" marL="0">
              <a:buNone/>
            </a:pPr>
            <a:r>
              <a:rPr lang="en-US" sz="760" dirty="0">
                <a:solidFill>
                  <a:srgbClr val="5B6770"/>
                </a:solidFill>
              </a:rPr>
              <a:t>ExperienceLevel</a:t>
            </a:r>
            <a:endParaRPr lang="en-US" sz="760" dirty="0"/>
          </a:p>
          <a:p>
            <a:pPr indent="0" marL="0">
              <a:buNone/>
            </a:pPr>
            <a:r>
              <a:rPr lang="en-US" sz="760" dirty="0">
                <a:solidFill>
                  <a:srgbClr val="5B6770"/>
                </a:solidFill>
              </a:rPr>
              <a:t>PayRate</a:t>
            </a:r>
            <a:endParaRPr lang="en-US" sz="760" dirty="0"/>
          </a:p>
          <a:p>
            <a:pPr indent="0" marL="0">
              <a:buNone/>
            </a:pPr>
            <a:r>
              <a:rPr lang="en-US" sz="760" dirty="0">
                <a:solidFill>
                  <a:srgbClr val="5B6770"/>
                </a:solidFill>
              </a:rPr>
              <a:t>PrimarySpecialism</a:t>
            </a:r>
            <a:endParaRPr lang="en-US" sz="760" dirty="0"/>
          </a:p>
        </p:txBody>
      </p:sp>
      <p:sp>
        <p:nvSpPr>
          <p:cNvPr id="19" name="Shape 17"/>
          <p:cNvSpPr/>
          <p:nvPr/>
        </p:nvSpPr>
        <p:spPr>
          <a:xfrm>
            <a:off x="7452360" y="3703320"/>
            <a:ext cx="2880360" cy="1417320"/>
          </a:xfrm>
          <a:prstGeom prst="roundRect">
            <a:avLst>
              <a:gd name="adj" fmla="val 5161"/>
            </a:avLst>
          </a:prstGeom>
          <a:solidFill>
            <a:srgbClr val="EAF4FB"/>
          </a:solidFill>
          <a:ln w="13970">
            <a:solidFill>
              <a:srgbClr val="84B8D7"/>
            </a:solidFill>
            <a:prstDash val="solid"/>
          </a:ln>
        </p:spPr>
      </p:sp>
      <p:sp>
        <p:nvSpPr>
          <p:cNvPr id="20" name="Text 18"/>
          <p:cNvSpPr/>
          <p:nvPr/>
        </p:nvSpPr>
        <p:spPr>
          <a:xfrm>
            <a:off x="7525512" y="3776472"/>
            <a:ext cx="2734056" cy="228600"/>
          </a:xfrm>
          <a:prstGeom prst="rect">
            <a:avLst/>
          </a:prstGeom>
          <a:noFill/>
          <a:ln/>
        </p:spPr>
        <p:txBody>
          <a:bodyPr wrap="square" lIns="0" tIns="0" rIns="0" bIns="0" rtlCol="0" anchor="ctr"/>
          <a:lstStyle/>
          <a:p>
            <a:pPr indent="0" marL="0">
              <a:buNone/>
            </a:pPr>
            <a:r>
              <a:rPr lang="en-US" sz="1100" b="1" dirty="0">
                <a:solidFill>
                  <a:srgbClr val="17466E"/>
                </a:solidFill>
              </a:rPr>
              <a:t>DimDate</a:t>
            </a:r>
            <a:endParaRPr lang="en-US" sz="1100" dirty="0"/>
          </a:p>
        </p:txBody>
      </p:sp>
      <p:sp>
        <p:nvSpPr>
          <p:cNvPr id="21" name="Text 19"/>
          <p:cNvSpPr/>
          <p:nvPr/>
        </p:nvSpPr>
        <p:spPr>
          <a:xfrm>
            <a:off x="7562088" y="4087368"/>
            <a:ext cx="2660904" cy="960120"/>
          </a:xfrm>
          <a:prstGeom prst="rect">
            <a:avLst/>
          </a:prstGeom>
          <a:noFill/>
          <a:ln/>
        </p:spPr>
        <p:txBody>
          <a:bodyPr wrap="square" lIns="0" tIns="0" rIns="0" bIns="0" rtlCol="0" anchor="ctr">
            <a:normAutofit/>
          </a:bodyPr>
          <a:lstStyle/>
          <a:p>
            <a:pPr indent="0" marL="0">
              <a:buNone/>
            </a:pPr>
            <a:r>
              <a:rPr lang="en-US" sz="760" dirty="0">
                <a:solidFill>
                  <a:srgbClr val="5B6770"/>
                </a:solidFill>
              </a:rPr>
              <a:t>Date</a:t>
            </a:r>
            <a:endParaRPr lang="en-US" sz="760" dirty="0"/>
          </a:p>
          <a:p>
            <a:pPr indent="0" marL="0">
              <a:buNone/>
            </a:pPr>
            <a:r>
              <a:rPr lang="en-US" sz="760" dirty="0">
                <a:solidFill>
                  <a:srgbClr val="5B6770"/>
                </a:solidFill>
              </a:rPr>
              <a:t>Year</a:t>
            </a:r>
            <a:endParaRPr lang="en-US" sz="760" dirty="0"/>
          </a:p>
          <a:p>
            <a:pPr indent="0" marL="0">
              <a:buNone/>
            </a:pPr>
            <a:r>
              <a:rPr lang="en-US" sz="760" dirty="0">
                <a:solidFill>
                  <a:srgbClr val="5B6770"/>
                </a:solidFill>
              </a:rPr>
              <a:t>Month</a:t>
            </a:r>
            <a:endParaRPr lang="en-US" sz="760" dirty="0"/>
          </a:p>
          <a:p>
            <a:pPr indent="0" marL="0">
              <a:buNone/>
            </a:pPr>
            <a:r>
              <a:rPr lang="en-US" sz="760" dirty="0">
                <a:solidFill>
                  <a:srgbClr val="5B6770"/>
                </a:solidFill>
              </a:rPr>
              <a:t>Month Number</a:t>
            </a:r>
            <a:endParaRPr lang="en-US" sz="760" dirty="0"/>
          </a:p>
          <a:p>
            <a:pPr indent="0" marL="0">
              <a:buNone/>
            </a:pPr>
            <a:r>
              <a:rPr lang="en-US" sz="760" dirty="0">
                <a:solidFill>
                  <a:srgbClr val="5B6770"/>
                </a:solidFill>
              </a:rPr>
              <a:t>Day of Week</a:t>
            </a:r>
            <a:endParaRPr lang="en-US" sz="760" dirty="0"/>
          </a:p>
        </p:txBody>
      </p:sp>
      <p:sp>
        <p:nvSpPr>
          <p:cNvPr id="22" name="Shape 20"/>
          <p:cNvSpPr/>
          <p:nvPr/>
        </p:nvSpPr>
        <p:spPr>
          <a:xfrm>
            <a:off x="4617720" y="2487168"/>
            <a:ext cx="2103120" cy="1508760"/>
          </a:xfrm>
          <a:prstGeom prst="roundRect">
            <a:avLst>
              <a:gd name="adj" fmla="val 4848"/>
            </a:avLst>
          </a:prstGeom>
          <a:solidFill>
            <a:srgbClr val="EAF5ED"/>
          </a:solidFill>
          <a:ln w="13970">
            <a:solidFill>
              <a:srgbClr val="84B8D7"/>
            </a:solidFill>
            <a:prstDash val="solid"/>
          </a:ln>
        </p:spPr>
      </p:sp>
      <p:sp>
        <p:nvSpPr>
          <p:cNvPr id="23" name="Text 21"/>
          <p:cNvSpPr/>
          <p:nvPr/>
        </p:nvSpPr>
        <p:spPr>
          <a:xfrm>
            <a:off x="4690872" y="2560320"/>
            <a:ext cx="1956816" cy="228600"/>
          </a:xfrm>
          <a:prstGeom prst="rect">
            <a:avLst/>
          </a:prstGeom>
          <a:noFill/>
          <a:ln/>
        </p:spPr>
        <p:txBody>
          <a:bodyPr wrap="square" lIns="0" tIns="0" rIns="0" bIns="0" rtlCol="0" anchor="ctr"/>
          <a:lstStyle/>
          <a:p>
            <a:pPr indent="0" marL="0">
              <a:buNone/>
            </a:pPr>
            <a:r>
              <a:rPr lang="en-US" sz="1100" b="1" dirty="0">
                <a:solidFill>
                  <a:srgbClr val="17466E"/>
                </a:solidFill>
              </a:rPr>
              <a:t>FactSessions</a:t>
            </a:r>
            <a:endParaRPr lang="en-US" sz="1100" dirty="0"/>
          </a:p>
        </p:txBody>
      </p:sp>
      <p:sp>
        <p:nvSpPr>
          <p:cNvPr id="24" name="Text 22"/>
          <p:cNvSpPr/>
          <p:nvPr/>
        </p:nvSpPr>
        <p:spPr>
          <a:xfrm>
            <a:off x="4727448" y="2871216"/>
            <a:ext cx="1883664" cy="1051560"/>
          </a:xfrm>
          <a:prstGeom prst="rect">
            <a:avLst/>
          </a:prstGeom>
          <a:noFill/>
          <a:ln/>
        </p:spPr>
        <p:txBody>
          <a:bodyPr wrap="square" lIns="0" tIns="0" rIns="0" bIns="0" rtlCol="0" anchor="ctr">
            <a:normAutofit/>
          </a:bodyPr>
          <a:lstStyle/>
          <a:p>
            <a:pPr indent="0" marL="0">
              <a:buNone/>
            </a:pPr>
            <a:r>
              <a:rPr lang="en-US" sz="760" dirty="0">
                <a:solidFill>
                  <a:srgbClr val="5B6770"/>
                </a:solidFill>
              </a:rPr>
              <a:t>SessionID</a:t>
            </a:r>
            <a:endParaRPr lang="en-US" sz="760" dirty="0"/>
          </a:p>
          <a:p>
            <a:pPr indent="0" marL="0">
              <a:buNone/>
            </a:pPr>
            <a:r>
              <a:rPr lang="en-US" sz="760" dirty="0">
                <a:solidFill>
                  <a:srgbClr val="5B6770"/>
                </a:solidFill>
              </a:rPr>
              <a:t>SessionDate</a:t>
            </a:r>
            <a:endParaRPr lang="en-US" sz="760" dirty="0"/>
          </a:p>
          <a:p>
            <a:pPr indent="0" marL="0">
              <a:buNone/>
            </a:pPr>
            <a:r>
              <a:rPr lang="en-US" sz="760" dirty="0">
                <a:solidFill>
                  <a:srgbClr val="5B6770"/>
                </a:solidFill>
              </a:rPr>
              <a:t>StudentKey</a:t>
            </a:r>
            <a:endParaRPr lang="en-US" sz="760" dirty="0"/>
          </a:p>
          <a:p>
            <a:pPr indent="0" marL="0">
              <a:buNone/>
            </a:pPr>
            <a:r>
              <a:rPr lang="en-US" sz="760" dirty="0">
                <a:solidFill>
                  <a:srgbClr val="5B6770"/>
                </a:solidFill>
              </a:rPr>
              <a:t>TutorKey</a:t>
            </a:r>
            <a:endParaRPr lang="en-US" sz="760" dirty="0"/>
          </a:p>
          <a:p>
            <a:pPr indent="0" marL="0">
              <a:buNone/>
            </a:pPr>
            <a:r>
              <a:rPr lang="en-US" sz="760" dirty="0">
                <a:solidFill>
                  <a:srgbClr val="5B6770"/>
                </a:solidFill>
              </a:rPr>
              <a:t>SubjectKey</a:t>
            </a:r>
            <a:endParaRPr lang="en-US" sz="760" dirty="0"/>
          </a:p>
          <a:p>
            <a:pPr indent="0" marL="0">
              <a:buNone/>
            </a:pPr>
            <a:r>
              <a:rPr lang="en-US" sz="760" dirty="0">
                <a:solidFill>
                  <a:srgbClr val="5B6770"/>
                </a:solidFill>
              </a:rPr>
              <a:t>Status</a:t>
            </a:r>
            <a:endParaRPr lang="en-US" sz="760" dirty="0"/>
          </a:p>
          <a:p>
            <a:pPr indent="0" marL="0">
              <a:buNone/>
            </a:pPr>
            <a:r>
              <a:rPr lang="en-US" sz="760" dirty="0">
                <a:solidFill>
                  <a:srgbClr val="5B6770"/>
                </a:solidFill>
              </a:rPr>
              <a:t>Duration</a:t>
            </a:r>
            <a:endParaRPr lang="en-US" sz="760" dirty="0"/>
          </a:p>
          <a:p>
            <a:pPr indent="0" marL="0">
              <a:buNone/>
            </a:pPr>
            <a:r>
              <a:rPr lang="en-US" sz="760" dirty="0">
                <a:solidFill>
                  <a:srgbClr val="5B6770"/>
                </a:solidFill>
              </a:rPr>
              <a:t>ChargedAmount</a:t>
            </a:r>
            <a:endParaRPr lang="en-US" sz="760" dirty="0"/>
          </a:p>
        </p:txBody>
      </p:sp>
      <p:sp>
        <p:nvSpPr>
          <p:cNvPr id="25" name="Text 23"/>
          <p:cNvSpPr/>
          <p:nvPr/>
        </p:nvSpPr>
        <p:spPr>
          <a:xfrm>
            <a:off x="2926080" y="5486400"/>
            <a:ext cx="6309360" cy="237744"/>
          </a:xfrm>
          <a:prstGeom prst="rect">
            <a:avLst/>
          </a:prstGeom>
          <a:noFill/>
          <a:ln/>
        </p:spPr>
        <p:txBody>
          <a:bodyPr wrap="square" lIns="0" tIns="0" rIns="0" bIns="0" rtlCol="0" anchor="ctr"/>
          <a:lstStyle/>
          <a:p>
            <a:pPr algn="ctr" indent="0" marL="0">
              <a:buNone/>
            </a:pPr>
            <a:r>
              <a:rPr lang="en-US" sz="1000" dirty="0">
                <a:solidFill>
                  <a:srgbClr val="5B6770"/>
                </a:solidFill>
              </a:rPr>
              <a:t>1 → many relationships, single-direction from each dimension into FactSessions</a:t>
            </a:r>
            <a:endParaRPr lang="en-US" sz="1000" dirty="0"/>
          </a:p>
        </p:txBody>
      </p:sp>
      <p:sp>
        <p:nvSpPr>
          <p:cNvPr id="26" name="Text 24"/>
          <p:cNvSpPr/>
          <p:nvPr/>
        </p:nvSpPr>
        <p:spPr>
          <a:xfrm>
            <a:off x="411480" y="6492240"/>
            <a:ext cx="4572000" cy="164592"/>
          </a:xfrm>
          <a:prstGeom prst="rect">
            <a:avLst/>
          </a:prstGeom>
          <a:noFill/>
          <a:ln/>
        </p:spPr>
        <p:txBody>
          <a:bodyPr wrap="square" rtlCol="0" anchor="ctr"/>
          <a:lstStyle/>
          <a:p>
            <a:pPr indent="0" marL="0">
              <a:buNone/>
            </a:pPr>
            <a:r>
              <a:rPr lang="en-US" sz="660" dirty="0">
                <a:solidFill>
                  <a:srgbClr val="7A8790"/>
                </a:solidFill>
              </a:rPr>
              <a:t>Northstar Tutoring Analytics  ·  Power BI Portfolio</a:t>
            </a:r>
            <a:endParaRPr lang="en-US" sz="660" dirty="0"/>
          </a:p>
        </p:txBody>
      </p:sp>
      <p:sp>
        <p:nvSpPr>
          <p:cNvPr id="27" name="Text 25"/>
          <p:cNvSpPr/>
          <p:nvPr/>
        </p:nvSpPr>
        <p:spPr>
          <a:xfrm>
            <a:off x="11375136" y="6492240"/>
            <a:ext cx="320040" cy="164592"/>
          </a:xfrm>
          <a:prstGeom prst="rect">
            <a:avLst/>
          </a:prstGeom>
          <a:noFill/>
          <a:ln/>
        </p:spPr>
        <p:txBody>
          <a:bodyPr wrap="square" rtlCol="0" anchor="ctr"/>
          <a:lstStyle/>
          <a:p>
            <a:pPr algn="r" indent="0" marL="0">
              <a:buNone/>
            </a:pPr>
            <a:r>
              <a:rPr lang="en-US" sz="660" dirty="0">
                <a:solidFill>
                  <a:srgbClr val="7A8790"/>
                </a:solidFill>
              </a:rPr>
              <a:t>4</a:t>
            </a:r>
            <a:endParaRPr lang="en-US" sz="6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1480" y="146304"/>
            <a:ext cx="4846320" cy="201168"/>
          </a:xfrm>
          <a:prstGeom prst="rect">
            <a:avLst/>
          </a:prstGeom>
          <a:noFill/>
          <a:ln/>
        </p:spPr>
        <p:txBody>
          <a:bodyPr wrap="square" rtlCol="0" anchor="ctr"/>
          <a:lstStyle/>
          <a:p>
            <a:pPr indent="0" marL="0">
              <a:buNone/>
            </a:pPr>
            <a:r>
              <a:rPr lang="en-US" sz="750" b="1" dirty="0">
                <a:solidFill>
                  <a:srgbClr val="5B6770"/>
                </a:solidFill>
                <a:latin typeface="Aptos" pitchFamily="34" charset="0"/>
                <a:ea typeface="Aptos" pitchFamily="34" charset="-122"/>
                <a:cs typeface="Aptos" pitchFamily="34" charset="-120"/>
              </a:rPr>
              <a:t>Power BI PL-300  ·  Portfolio Project</a:t>
            </a:r>
            <a:endParaRPr lang="en-US" sz="750" dirty="0"/>
          </a:p>
        </p:txBody>
      </p:sp>
      <p:sp>
        <p:nvSpPr>
          <p:cNvPr id="3" name="Text 1"/>
          <p:cNvSpPr/>
          <p:nvPr/>
        </p:nvSpPr>
        <p:spPr>
          <a:xfrm>
            <a:off x="411480" y="420624"/>
            <a:ext cx="7680960" cy="384048"/>
          </a:xfrm>
          <a:prstGeom prst="rect">
            <a:avLst/>
          </a:prstGeom>
          <a:noFill/>
          <a:ln/>
        </p:spPr>
        <p:txBody>
          <a:bodyPr wrap="square" rtlCol="0" anchor="ctr">
            <a:normAutofit/>
          </a:bodyPr>
          <a:lstStyle/>
          <a:p>
            <a:pPr indent="0" marL="0">
              <a:buNone/>
            </a:pPr>
            <a:r>
              <a:rPr lang="en-US" sz="2000" b="1" dirty="0">
                <a:solidFill>
                  <a:srgbClr val="17466E"/>
                </a:solidFill>
                <a:latin typeface="Aptos Display" pitchFamily="34" charset="0"/>
                <a:ea typeface="Aptos Display" pitchFamily="34" charset="-122"/>
                <a:cs typeface="Aptos Display" pitchFamily="34" charset="-120"/>
              </a:rPr>
              <a:t>Identified Problems in the Dataset</a:t>
            </a:r>
            <a:endParaRPr lang="en-US" sz="2000" dirty="0"/>
          </a:p>
        </p:txBody>
      </p:sp>
      <p:sp>
        <p:nvSpPr>
          <p:cNvPr id="4" name="Shape 2"/>
          <p:cNvSpPr/>
          <p:nvPr/>
        </p:nvSpPr>
        <p:spPr>
          <a:xfrm>
            <a:off x="411480" y="905256"/>
            <a:ext cx="11292840" cy="0"/>
          </a:xfrm>
          <a:prstGeom prst="line">
            <a:avLst/>
          </a:prstGeom>
          <a:noFill/>
          <a:ln w="15240">
            <a:solidFill>
              <a:srgbClr val="17466E"/>
            </a:solidFill>
            <a:prstDash val="solid"/>
          </a:ln>
        </p:spPr>
      </p:sp>
      <p:sp>
        <p:nvSpPr>
          <p:cNvPr id="5" name="Text 3"/>
          <p:cNvSpPr/>
          <p:nvPr/>
        </p:nvSpPr>
        <p:spPr>
          <a:xfrm>
            <a:off x="10972800" y="438912"/>
            <a:ext cx="640080" cy="182880"/>
          </a:xfrm>
          <a:prstGeom prst="rect">
            <a:avLst/>
          </a:prstGeom>
          <a:noFill/>
          <a:ln/>
        </p:spPr>
        <p:txBody>
          <a:bodyPr wrap="square" rtlCol="0" anchor="ctr"/>
          <a:lstStyle/>
          <a:p>
            <a:pPr algn="r" indent="0" marL="0">
              <a:buNone/>
            </a:pPr>
            <a:r>
              <a:rPr lang="en-US" sz="750" dirty="0">
                <a:solidFill>
                  <a:srgbClr val="5B6770"/>
                </a:solidFill>
              </a:rPr>
              <a:t>5 / 12</a:t>
            </a:r>
            <a:endParaRPr lang="en-US" sz="750" dirty="0"/>
          </a:p>
        </p:txBody>
      </p:sp>
      <p:sp>
        <p:nvSpPr>
          <p:cNvPr id="6" name="Shape 4"/>
          <p:cNvSpPr/>
          <p:nvPr/>
        </p:nvSpPr>
        <p:spPr>
          <a:xfrm>
            <a:off x="594360" y="1143000"/>
            <a:ext cx="1828800" cy="640080"/>
          </a:xfrm>
          <a:prstGeom prst="roundRect">
            <a:avLst>
              <a:gd name="adj" fmla="val 11429"/>
            </a:avLst>
          </a:prstGeom>
          <a:solidFill>
            <a:srgbClr val="F6F8FA"/>
          </a:solidFill>
          <a:ln w="8890">
            <a:solidFill>
              <a:srgbClr val="E9EDF0"/>
            </a:solidFill>
            <a:prstDash val="solid"/>
          </a:ln>
        </p:spPr>
      </p:sp>
      <p:sp>
        <p:nvSpPr>
          <p:cNvPr id="7" name="Text 5"/>
          <p:cNvSpPr/>
          <p:nvPr/>
        </p:nvSpPr>
        <p:spPr>
          <a:xfrm>
            <a:off x="704088" y="1252728"/>
            <a:ext cx="160934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0</a:t>
            </a:r>
            <a:endParaRPr lang="en-US" sz="1700" dirty="0"/>
          </a:p>
        </p:txBody>
      </p:sp>
      <p:sp>
        <p:nvSpPr>
          <p:cNvPr id="8" name="Text 6"/>
          <p:cNvSpPr/>
          <p:nvPr/>
        </p:nvSpPr>
        <p:spPr>
          <a:xfrm>
            <a:off x="704088" y="1572768"/>
            <a:ext cx="160934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Duplicate keys found</a:t>
            </a:r>
            <a:endParaRPr lang="en-US" sz="770" dirty="0"/>
          </a:p>
        </p:txBody>
      </p:sp>
      <p:sp>
        <p:nvSpPr>
          <p:cNvPr id="9" name="Shape 7"/>
          <p:cNvSpPr/>
          <p:nvPr/>
        </p:nvSpPr>
        <p:spPr>
          <a:xfrm>
            <a:off x="2651760" y="1143000"/>
            <a:ext cx="1828800" cy="640080"/>
          </a:xfrm>
          <a:prstGeom prst="roundRect">
            <a:avLst>
              <a:gd name="adj" fmla="val 11429"/>
            </a:avLst>
          </a:prstGeom>
          <a:solidFill>
            <a:srgbClr val="F6F8FA"/>
          </a:solidFill>
          <a:ln w="8890">
            <a:solidFill>
              <a:srgbClr val="E9EDF0"/>
            </a:solidFill>
            <a:prstDash val="solid"/>
          </a:ln>
        </p:spPr>
      </p:sp>
      <p:sp>
        <p:nvSpPr>
          <p:cNvPr id="10" name="Text 8"/>
          <p:cNvSpPr/>
          <p:nvPr/>
        </p:nvSpPr>
        <p:spPr>
          <a:xfrm>
            <a:off x="2761488" y="1252728"/>
            <a:ext cx="160934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64</a:t>
            </a:r>
            <a:endParaRPr lang="en-US" sz="1700" dirty="0"/>
          </a:p>
        </p:txBody>
      </p:sp>
      <p:sp>
        <p:nvSpPr>
          <p:cNvPr id="11" name="Text 9"/>
          <p:cNvSpPr/>
          <p:nvPr/>
        </p:nvSpPr>
        <p:spPr>
          <a:xfrm>
            <a:off x="2761488" y="1572768"/>
            <a:ext cx="160934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Non-completed sessions</a:t>
            </a:r>
            <a:endParaRPr lang="en-US" sz="770" dirty="0"/>
          </a:p>
        </p:txBody>
      </p:sp>
      <p:sp>
        <p:nvSpPr>
          <p:cNvPr id="12" name="Shape 10"/>
          <p:cNvSpPr/>
          <p:nvPr/>
        </p:nvSpPr>
        <p:spPr>
          <a:xfrm>
            <a:off x="4709160" y="1143000"/>
            <a:ext cx="1828800" cy="640080"/>
          </a:xfrm>
          <a:prstGeom prst="roundRect">
            <a:avLst>
              <a:gd name="adj" fmla="val 11429"/>
            </a:avLst>
          </a:prstGeom>
          <a:solidFill>
            <a:srgbClr val="F6F8FA"/>
          </a:solidFill>
          <a:ln w="8890">
            <a:solidFill>
              <a:srgbClr val="E9EDF0"/>
            </a:solidFill>
            <a:prstDash val="solid"/>
          </a:ln>
        </p:spPr>
      </p:sp>
      <p:sp>
        <p:nvSpPr>
          <p:cNvPr id="13" name="Text 11"/>
          <p:cNvSpPr/>
          <p:nvPr/>
        </p:nvSpPr>
        <p:spPr>
          <a:xfrm>
            <a:off x="4818888" y="1252728"/>
            <a:ext cx="160934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4</a:t>
            </a:r>
            <a:endParaRPr lang="en-US" sz="1700" dirty="0"/>
          </a:p>
        </p:txBody>
      </p:sp>
      <p:sp>
        <p:nvSpPr>
          <p:cNvPr id="14" name="Text 12"/>
          <p:cNvSpPr/>
          <p:nvPr/>
        </p:nvSpPr>
        <p:spPr>
          <a:xfrm>
            <a:off x="4818888" y="1572768"/>
            <a:ext cx="160934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Inactive registered students</a:t>
            </a:r>
            <a:endParaRPr lang="en-US" sz="770" dirty="0"/>
          </a:p>
        </p:txBody>
      </p:sp>
      <p:sp>
        <p:nvSpPr>
          <p:cNvPr id="15" name="Shape 13"/>
          <p:cNvSpPr/>
          <p:nvPr/>
        </p:nvSpPr>
        <p:spPr>
          <a:xfrm>
            <a:off x="6766560" y="1143000"/>
            <a:ext cx="1828800" cy="640080"/>
          </a:xfrm>
          <a:prstGeom prst="roundRect">
            <a:avLst>
              <a:gd name="adj" fmla="val 11429"/>
            </a:avLst>
          </a:prstGeom>
          <a:solidFill>
            <a:srgbClr val="F6F8FA"/>
          </a:solidFill>
          <a:ln w="8890">
            <a:solidFill>
              <a:srgbClr val="E9EDF0"/>
            </a:solidFill>
            <a:prstDash val="solid"/>
          </a:ln>
        </p:spPr>
      </p:sp>
      <p:sp>
        <p:nvSpPr>
          <p:cNvPr id="16" name="Text 14"/>
          <p:cNvSpPr/>
          <p:nvPr/>
        </p:nvSpPr>
        <p:spPr>
          <a:xfrm>
            <a:off x="6876288" y="1252728"/>
            <a:ext cx="160934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30</a:t>
            </a:r>
            <a:endParaRPr lang="en-US" sz="1700" dirty="0"/>
          </a:p>
        </p:txBody>
      </p:sp>
      <p:sp>
        <p:nvSpPr>
          <p:cNvPr id="17" name="Text 15"/>
          <p:cNvSpPr/>
          <p:nvPr/>
        </p:nvSpPr>
        <p:spPr>
          <a:xfrm>
            <a:off x="6876288" y="1572768"/>
            <a:ext cx="160934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Cancelled early rows</a:t>
            </a:r>
            <a:endParaRPr lang="en-US" sz="77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2121408"/>
          <a:ext cx="10652760" cy="2514600"/>
        </p:xfrm>
        <a:graphic>
          <a:graphicData uri="http://schemas.openxmlformats.org/drawingml/2006/table">
            <a:tbl>
              <a:tblPr/>
              <a:tblGrid>
                <a:gridCol w="2057400"/>
                <a:gridCol w="2331720"/>
                <a:gridCol w="6263640"/>
              </a:tblGrid>
              <a:tr h="419100">
                <a:tc>
                  <a:txBody>
                    <a:bodyPr/>
                    <a:lstStyle/>
                    <a:p>
                      <a:pPr indent="0" marL="0">
                        <a:buNone/>
                      </a:pPr>
                      <a:r>
                        <a:rPr lang="en-US" sz="840" b="1" dirty="0">
                          <a:solidFill>
                            <a:srgbClr val="FFFFFF"/>
                          </a:solidFill>
                        </a:rPr>
                        <a:t>Issue</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c>
                  <a:txBody>
                    <a:bodyPr/>
                    <a:lstStyle/>
                    <a:p>
                      <a:pPr indent="0" marL="0">
                        <a:buNone/>
                      </a:pPr>
                      <a:r>
                        <a:rPr lang="en-US" sz="840" b="1" dirty="0">
                          <a:solidFill>
                            <a:srgbClr val="FFFFFF"/>
                          </a:solidFill>
                        </a:rPr>
                        <a:t>Where it sits</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c>
                  <a:txBody>
                    <a:bodyPr/>
                    <a:lstStyle/>
                    <a:p>
                      <a:pPr indent="0" marL="0">
                        <a:buNone/>
                      </a:pPr>
                      <a:r>
                        <a:rPr lang="en-US" sz="840" b="1" dirty="0">
                          <a:solidFill>
                            <a:srgbClr val="FFFFFF"/>
                          </a:solidFill>
                        </a:rPr>
                        <a:t>Treatment / risk if ignored</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r>
              <a:tr h="419100">
                <a:tc>
                  <a:txBody>
                    <a:bodyPr/>
                    <a:lstStyle/>
                    <a:p>
                      <a:pPr indent="0" marL="0">
                        <a:buNone/>
                      </a:pPr>
                      <a:r>
                        <a:rPr lang="en-US" sz="840" dirty="0">
                          <a:solidFill>
                            <a:srgbClr val="1F2933"/>
                          </a:solidFill>
                        </a:rPr>
                        <a:t>Blank satisfaction scores</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40" dirty="0">
                          <a:solidFill>
                            <a:srgbClr val="1F2933"/>
                          </a:solidFill>
                        </a:rPr>
                        <a:t>FactSessions</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40" dirty="0">
                          <a:solidFill>
                            <a:srgbClr val="1F2933"/>
                          </a:solidFill>
                        </a:rPr>
                        <a:t>Expected for cancelled/no-show/late-cancel sessions. AVERAGE ignores blanks, so quality analysis is based on completed sessions only.</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419100">
                <a:tc>
                  <a:txBody>
                    <a:bodyPr/>
                    <a:lstStyle/>
                    <a:p>
                      <a:pPr indent="0" marL="0">
                        <a:buNone/>
                      </a:pPr>
                      <a:r>
                        <a:rPr lang="en-US" sz="840" dirty="0">
                          <a:solidFill>
                            <a:srgbClr val="1F2933"/>
                          </a:solidFill>
                        </a:rPr>
                        <a:t>Registered vs active students</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40" dirty="0">
                          <a:solidFill>
                            <a:srgbClr val="1F2933"/>
                          </a:solidFill>
                        </a:rPr>
                        <a:t>DimStudents vs FactSessions</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40" dirty="0">
                          <a:solidFill>
                            <a:srgbClr val="1F2933"/>
                          </a:solidFill>
                        </a:rPr>
                        <a:t>80 students exist in the dimension, but only 76 appear in the fact. Measures need to distinguish the two.</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r h="419100">
                <a:tc>
                  <a:txBody>
                    <a:bodyPr/>
                    <a:lstStyle/>
                    <a:p>
                      <a:pPr indent="0" marL="0">
                        <a:buNone/>
                      </a:pPr>
                      <a:r>
                        <a:rPr lang="en-US" sz="840" dirty="0">
                          <a:solidFill>
                            <a:srgbClr val="1F2933"/>
                          </a:solidFill>
                        </a:rPr>
                        <a:t>Cancelled early sessions</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40" dirty="0">
                          <a:solidFill>
                            <a:srgbClr val="1F2933"/>
                          </a:solidFill>
                        </a:rPr>
                        <a:t>FactSessions</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40" dirty="0">
                          <a:solidFill>
                            <a:srgbClr val="1F2933"/>
                          </a:solidFill>
                        </a:rPr>
                        <a:t>30 rows carry £0 revenue. They are valid operational data and must be kept for completion-rate analysis.</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419100">
                <a:tc>
                  <a:txBody>
                    <a:bodyPr/>
                    <a:lstStyle/>
                    <a:p>
                      <a:pPr indent="0" marL="0">
                        <a:buNone/>
                      </a:pPr>
                      <a:r>
                        <a:rPr lang="en-US" sz="840" dirty="0">
                          <a:solidFill>
                            <a:srgbClr val="1F2933"/>
                          </a:solidFill>
                        </a:rPr>
                        <a:t>Tutor cost not stored</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40" dirty="0">
                          <a:solidFill>
                            <a:srgbClr val="1F2933"/>
                          </a:solidFill>
                        </a:rPr>
                        <a:t>Fact + DimTutors</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40" dirty="0">
                          <a:solidFill>
                            <a:srgbClr val="1F2933"/>
                          </a:solidFill>
                        </a:rPr>
                        <a:t>Cost requires row-by-row DAX: Duration × PayRate × status multiplier.</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r h="419100">
                <a:tc>
                  <a:txBody>
                    <a:bodyPr/>
                    <a:lstStyle/>
                    <a:p>
                      <a:pPr indent="0" marL="0">
                        <a:buNone/>
                      </a:pPr>
                      <a:r>
                        <a:rPr lang="en-US" sz="840" dirty="0">
                          <a:solidFill>
                            <a:srgbClr val="1F2933"/>
                          </a:solidFill>
                        </a:rPr>
                        <a:t>Date table not provided</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40" dirty="0">
                          <a:solidFill>
                            <a:srgbClr val="1F2933"/>
                          </a:solidFill>
                        </a:rPr>
                        <a:t>Model</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40" dirty="0">
                          <a:solidFill>
                            <a:srgbClr val="1F2933"/>
                          </a:solidFill>
                        </a:rPr>
                        <a:t>Built separately so time-intelligence measures work reliably.</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bl>
          </a:graphicData>
        </a:graphic>
      </p:graphicFrame>
      <p:sp>
        <p:nvSpPr>
          <p:cNvPr id="19" name="Shape 16"/>
          <p:cNvSpPr/>
          <p:nvPr/>
        </p:nvSpPr>
        <p:spPr>
          <a:xfrm>
            <a:off x="1051560" y="5166360"/>
            <a:ext cx="10058400" cy="512064"/>
          </a:xfrm>
          <a:prstGeom prst="roundRect">
            <a:avLst>
              <a:gd name="adj" fmla="val 10714"/>
            </a:avLst>
          </a:prstGeom>
          <a:solidFill>
            <a:srgbClr val="FFF2E9"/>
          </a:solidFill>
          <a:ln w="8890">
            <a:solidFill>
              <a:srgbClr val="F1C5A5"/>
            </a:solidFill>
            <a:prstDash val="solid"/>
          </a:ln>
        </p:spPr>
      </p:sp>
      <p:sp>
        <p:nvSpPr>
          <p:cNvPr id="20" name="Text 17"/>
          <p:cNvSpPr/>
          <p:nvPr/>
        </p:nvSpPr>
        <p:spPr>
          <a:xfrm>
            <a:off x="1216152" y="5303520"/>
            <a:ext cx="9738360" cy="164592"/>
          </a:xfrm>
          <a:prstGeom prst="rect">
            <a:avLst/>
          </a:prstGeom>
          <a:noFill/>
          <a:ln/>
        </p:spPr>
        <p:txBody>
          <a:bodyPr wrap="square" rtlCol="0" anchor="ctr">
            <a:normAutofit/>
          </a:bodyPr>
          <a:lstStyle/>
          <a:p>
            <a:pPr indent="0" marL="0">
              <a:buNone/>
            </a:pPr>
            <a:r>
              <a:rPr lang="en-US" sz="1100" b="1" dirty="0">
                <a:solidFill>
                  <a:srgbClr val="1F2933"/>
                </a:solidFill>
              </a:rPr>
              <a:t>Key judgement: the dataset was deliberately clean, so the modelling risk was not “bad rows” but misinterpreting blanks, non-additive rates and inactive dimension members.</a:t>
            </a:r>
            <a:endParaRPr lang="en-US" sz="1100" dirty="0"/>
          </a:p>
        </p:txBody>
      </p:sp>
      <p:sp>
        <p:nvSpPr>
          <p:cNvPr id="21" name="Text 18"/>
          <p:cNvSpPr/>
          <p:nvPr/>
        </p:nvSpPr>
        <p:spPr>
          <a:xfrm>
            <a:off x="411480" y="6492240"/>
            <a:ext cx="4572000" cy="164592"/>
          </a:xfrm>
          <a:prstGeom prst="rect">
            <a:avLst/>
          </a:prstGeom>
          <a:noFill/>
          <a:ln/>
        </p:spPr>
        <p:txBody>
          <a:bodyPr wrap="square" rtlCol="0" anchor="ctr"/>
          <a:lstStyle/>
          <a:p>
            <a:pPr indent="0" marL="0">
              <a:buNone/>
            </a:pPr>
            <a:r>
              <a:rPr lang="en-US" sz="660" dirty="0">
                <a:solidFill>
                  <a:srgbClr val="7A8790"/>
                </a:solidFill>
              </a:rPr>
              <a:t>Northstar Tutoring Analytics  ·  Power BI Portfolio</a:t>
            </a:r>
            <a:endParaRPr lang="en-US" sz="660" dirty="0"/>
          </a:p>
        </p:txBody>
      </p:sp>
      <p:sp>
        <p:nvSpPr>
          <p:cNvPr id="22" name="Text 19"/>
          <p:cNvSpPr/>
          <p:nvPr/>
        </p:nvSpPr>
        <p:spPr>
          <a:xfrm>
            <a:off x="11375136" y="6492240"/>
            <a:ext cx="320040" cy="164592"/>
          </a:xfrm>
          <a:prstGeom prst="rect">
            <a:avLst/>
          </a:prstGeom>
          <a:noFill/>
          <a:ln/>
        </p:spPr>
        <p:txBody>
          <a:bodyPr wrap="square" rtlCol="0" anchor="ctr"/>
          <a:lstStyle/>
          <a:p>
            <a:pPr algn="r" indent="0" marL="0">
              <a:buNone/>
            </a:pPr>
            <a:r>
              <a:rPr lang="en-US" sz="660" dirty="0">
                <a:solidFill>
                  <a:srgbClr val="7A8790"/>
                </a:solidFill>
              </a:rPr>
              <a:t>5</a:t>
            </a:r>
            <a:endParaRPr lang="en-US" sz="6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11480" y="146304"/>
            <a:ext cx="4846320" cy="201168"/>
          </a:xfrm>
          <a:prstGeom prst="rect">
            <a:avLst/>
          </a:prstGeom>
          <a:noFill/>
          <a:ln/>
        </p:spPr>
        <p:txBody>
          <a:bodyPr wrap="square" rtlCol="0" anchor="ctr"/>
          <a:lstStyle/>
          <a:p>
            <a:pPr indent="0" marL="0">
              <a:buNone/>
            </a:pPr>
            <a:r>
              <a:rPr lang="en-US" sz="750" b="1" dirty="0">
                <a:solidFill>
                  <a:srgbClr val="5B6770"/>
                </a:solidFill>
                <a:latin typeface="Aptos" pitchFamily="34" charset="0"/>
                <a:ea typeface="Aptos" pitchFamily="34" charset="-122"/>
                <a:cs typeface="Aptos" pitchFamily="34" charset="-120"/>
              </a:rPr>
              <a:t>Power BI PL-300  ·  Portfolio Project</a:t>
            </a:r>
            <a:endParaRPr lang="en-US" sz="750" dirty="0"/>
          </a:p>
        </p:txBody>
      </p:sp>
      <p:sp>
        <p:nvSpPr>
          <p:cNvPr id="3" name="Text 1"/>
          <p:cNvSpPr/>
          <p:nvPr/>
        </p:nvSpPr>
        <p:spPr>
          <a:xfrm>
            <a:off x="411480" y="420624"/>
            <a:ext cx="7680960" cy="384048"/>
          </a:xfrm>
          <a:prstGeom prst="rect">
            <a:avLst/>
          </a:prstGeom>
          <a:noFill/>
          <a:ln/>
        </p:spPr>
        <p:txBody>
          <a:bodyPr wrap="square" rtlCol="0" anchor="ctr">
            <a:normAutofit/>
          </a:bodyPr>
          <a:lstStyle/>
          <a:p>
            <a:pPr indent="0" marL="0">
              <a:buNone/>
            </a:pPr>
            <a:r>
              <a:rPr lang="en-US" sz="2000" b="1" dirty="0">
                <a:solidFill>
                  <a:srgbClr val="17466E"/>
                </a:solidFill>
                <a:latin typeface="Aptos Display" pitchFamily="34" charset="0"/>
                <a:ea typeface="Aptos Display" pitchFamily="34" charset="-122"/>
                <a:cs typeface="Aptos Display" pitchFamily="34" charset="-120"/>
              </a:rPr>
              <a:t>Data Cleaning Process</a:t>
            </a:r>
            <a:endParaRPr lang="en-US" sz="2000" dirty="0"/>
          </a:p>
        </p:txBody>
      </p:sp>
      <p:sp>
        <p:nvSpPr>
          <p:cNvPr id="4" name="Shape 2"/>
          <p:cNvSpPr/>
          <p:nvPr/>
        </p:nvSpPr>
        <p:spPr>
          <a:xfrm>
            <a:off x="411480" y="905256"/>
            <a:ext cx="11292840" cy="0"/>
          </a:xfrm>
          <a:prstGeom prst="line">
            <a:avLst/>
          </a:prstGeom>
          <a:noFill/>
          <a:ln w="15240">
            <a:solidFill>
              <a:srgbClr val="17466E"/>
            </a:solidFill>
            <a:prstDash val="solid"/>
          </a:ln>
        </p:spPr>
      </p:sp>
      <p:sp>
        <p:nvSpPr>
          <p:cNvPr id="5" name="Text 3"/>
          <p:cNvSpPr/>
          <p:nvPr/>
        </p:nvSpPr>
        <p:spPr>
          <a:xfrm>
            <a:off x="10972800" y="438912"/>
            <a:ext cx="640080" cy="182880"/>
          </a:xfrm>
          <a:prstGeom prst="rect">
            <a:avLst/>
          </a:prstGeom>
          <a:noFill/>
          <a:ln/>
        </p:spPr>
        <p:txBody>
          <a:bodyPr wrap="square" rtlCol="0" anchor="ctr"/>
          <a:lstStyle/>
          <a:p>
            <a:pPr algn="r" indent="0" marL="0">
              <a:buNone/>
            </a:pPr>
            <a:r>
              <a:rPr lang="en-US" sz="750" dirty="0">
                <a:solidFill>
                  <a:srgbClr val="5B6770"/>
                </a:solidFill>
              </a:rPr>
              <a:t>6 / 12</a:t>
            </a:r>
            <a:endParaRPr lang="en-US" sz="7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1188720"/>
          <a:ext cx="10789920" cy="3246120"/>
        </p:xfrm>
        <a:graphic>
          <a:graphicData uri="http://schemas.openxmlformats.org/drawingml/2006/table">
            <a:tbl>
              <a:tblPr/>
              <a:tblGrid>
                <a:gridCol w="1143000"/>
                <a:gridCol w="4114800"/>
                <a:gridCol w="5532120"/>
              </a:tblGrid>
              <a:tr h="463731">
                <a:tc>
                  <a:txBody>
                    <a:bodyPr/>
                    <a:lstStyle/>
                    <a:p>
                      <a:pPr indent="0" marL="0">
                        <a:buNone/>
                      </a:pPr>
                      <a:r>
                        <a:rPr lang="en-US" sz="850" b="1" dirty="0">
                          <a:solidFill>
                            <a:srgbClr val="FFFFFF"/>
                          </a:solidFill>
                        </a:rPr>
                        <a:t>Step</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c>
                  <a:txBody>
                    <a:bodyPr/>
                    <a:lstStyle/>
                    <a:p>
                      <a:pPr indent="0" marL="0">
                        <a:buNone/>
                      </a:pPr>
                      <a:r>
                        <a:rPr lang="en-US" sz="850" b="1" dirty="0">
                          <a:solidFill>
                            <a:srgbClr val="FFFFFF"/>
                          </a:solidFill>
                        </a:rPr>
                        <a:t>What I checked or changed</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c>
                  <a:txBody>
                    <a:bodyPr/>
                    <a:lstStyle/>
                    <a:p>
                      <a:pPr indent="0" marL="0">
                        <a:buNone/>
                      </a:pPr>
                      <a:r>
                        <a:rPr lang="en-US" sz="850" b="1" dirty="0">
                          <a:solidFill>
                            <a:srgbClr val="FFFFFF"/>
                          </a:solidFill>
                        </a:rPr>
                        <a:t>Why it mattered</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r>
              <a:tr h="463731">
                <a:tc>
                  <a:txBody>
                    <a:bodyPr/>
                    <a:lstStyle/>
                    <a:p>
                      <a:pPr indent="0" marL="0">
                        <a:buNone/>
                      </a:pPr>
                      <a:r>
                        <a:rPr lang="en-US" sz="850" dirty="0">
                          <a:solidFill>
                            <a:srgbClr val="1F2933"/>
                          </a:solidFill>
                        </a:rPr>
                        <a:t>1  Data types</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50" dirty="0">
                          <a:solidFill>
                            <a:srgbClr val="1F2933"/>
                          </a:solidFill>
                        </a:rPr>
                        <a:t>Set dates, numbers and categorical fields to appropriate types.</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50" dirty="0">
                          <a:solidFill>
                            <a:srgbClr val="1F2933"/>
                          </a:solidFill>
                        </a:rPr>
                        <a:t>Prevents dates and currency being treated as text.</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463731">
                <a:tc>
                  <a:txBody>
                    <a:bodyPr/>
                    <a:lstStyle/>
                    <a:p>
                      <a:pPr indent="0" marL="0">
                        <a:buNone/>
                      </a:pPr>
                      <a:r>
                        <a:rPr lang="en-US" sz="850" dirty="0">
                          <a:solidFill>
                            <a:srgbClr val="1F2933"/>
                          </a:solidFill>
                        </a:rPr>
                        <a:t>2  Key validation</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rPr>
                        <a:t>Checked StudentKey, TutorKey and SubjectKey relationships.</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rPr>
                        <a:t>Ensures filters flow cleanly from dimensions to sessions.</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r h="463731">
                <a:tc>
                  <a:txBody>
                    <a:bodyPr/>
                    <a:lstStyle/>
                    <a:p>
                      <a:pPr indent="0" marL="0">
                        <a:buNone/>
                      </a:pPr>
                      <a:r>
                        <a:rPr lang="en-US" sz="850" dirty="0">
                          <a:solidFill>
                            <a:srgbClr val="1F2933"/>
                          </a:solidFill>
                        </a:rPr>
                        <a:t>3  Status review</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50" dirty="0">
                          <a:solidFill>
                            <a:srgbClr val="1F2933"/>
                          </a:solidFill>
                        </a:rPr>
                        <a:t>Kept Completed, No-show, Late Cancel and Cancelled Early as meaningful outcomes.</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50" dirty="0">
                          <a:solidFill>
                            <a:srgbClr val="1F2933"/>
                          </a:solidFill>
                        </a:rPr>
                        <a:t>Completion rate should include the whole booking funnel, not only attended sessions.</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463731">
                <a:tc>
                  <a:txBody>
                    <a:bodyPr/>
                    <a:lstStyle/>
                    <a:p>
                      <a:pPr indent="0" marL="0">
                        <a:buNone/>
                      </a:pPr>
                      <a:r>
                        <a:rPr lang="en-US" sz="850" dirty="0">
                          <a:solidFill>
                            <a:srgbClr val="1F2933"/>
                          </a:solidFill>
                        </a:rPr>
                        <a:t>4  Satisfaction blanks</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rPr>
                        <a:t>Kept blanks for non-completed sessions rather than replacing with zero.</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rPr>
                        <a:t>Zero would falsely imply a real rating; blank means no rating was collected.</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r h="463731">
                <a:tc>
                  <a:txBody>
                    <a:bodyPr/>
                    <a:lstStyle/>
                    <a:p>
                      <a:pPr indent="0" marL="0">
                        <a:buNone/>
                      </a:pPr>
                      <a:r>
                        <a:rPr lang="en-US" sz="850" dirty="0">
                          <a:solidFill>
                            <a:srgbClr val="1F2933"/>
                          </a:solidFill>
                        </a:rPr>
                        <a:t>5  Date table</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50" dirty="0">
                          <a:solidFill>
                            <a:srgbClr val="1F2933"/>
                          </a:solidFill>
                        </a:rPr>
                        <a:t>Created DimDate covering the session date range, with Year, Month and Month Number.</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50" dirty="0">
                          <a:solidFill>
                            <a:srgbClr val="1F2933"/>
                          </a:solidFill>
                        </a:rPr>
                        <a:t>Enables month sorting, YTD and previous-year comparisons.</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463731">
                <a:tc>
                  <a:txBody>
                    <a:bodyPr/>
                    <a:lstStyle/>
                    <a:p>
                      <a:pPr indent="0" marL="0">
                        <a:buNone/>
                      </a:pPr>
                      <a:r>
                        <a:rPr lang="en-US" sz="850" dirty="0">
                          <a:solidFill>
                            <a:srgbClr val="1F2933"/>
                          </a:solidFill>
                        </a:rPr>
                        <a:t>6  Housekeeping</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rPr>
                        <a:t>Hid key fields from report view and used measures instead of raw numeric columns.</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rPr>
                        <a:t>Makes the final report harder to misuse.</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bl>
          </a:graphicData>
        </a:graphic>
      </p:graphicFrame>
      <p:sp>
        <p:nvSpPr>
          <p:cNvPr id="7" name="Text 4"/>
          <p:cNvSpPr/>
          <p:nvPr/>
        </p:nvSpPr>
        <p:spPr>
          <a:xfrm>
            <a:off x="822960" y="4800600"/>
            <a:ext cx="2011680" cy="228600"/>
          </a:xfrm>
          <a:prstGeom prst="rect">
            <a:avLst/>
          </a:prstGeom>
          <a:noFill/>
          <a:ln/>
        </p:spPr>
        <p:txBody>
          <a:bodyPr wrap="square" rtlCol="0" anchor="ctr"/>
          <a:lstStyle/>
          <a:p>
            <a:pPr indent="0" marL="0">
              <a:buNone/>
            </a:pPr>
            <a:r>
              <a:rPr lang="en-US" sz="840" b="1" dirty="0">
                <a:solidFill>
                  <a:srgbClr val="17466E"/>
                </a:solidFill>
              </a:rPr>
              <a:t>BEFORE → AFTER</a:t>
            </a:r>
            <a:endParaRPr lang="en-US" sz="840" dirty="0"/>
          </a:p>
        </p:txBody>
      </p:sp>
      <p:sp>
        <p:nvSpPr>
          <p:cNvPr id="8" name="Text 5"/>
          <p:cNvSpPr/>
          <p:nvPr/>
        </p:nvSpPr>
        <p:spPr>
          <a:xfrm>
            <a:off x="822960" y="5074920"/>
            <a:ext cx="4389120" cy="548640"/>
          </a:xfrm>
          <a:prstGeom prst="rect">
            <a:avLst/>
          </a:prstGeom>
          <a:noFill/>
          <a:ln/>
        </p:spPr>
        <p:txBody>
          <a:bodyPr wrap="square" lIns="254" tIns="254" rIns="254" bIns="254" rtlCol="0" anchor="t">
            <a:normAutofit/>
          </a:bodyPr>
          <a:lstStyle/>
          <a:p>
            <a:pPr indent="0" marL="0">
              <a:buNone/>
            </a:pPr>
            <a:r>
              <a:rPr lang="en-US" sz="1200" dirty="0">
                <a:solidFill>
                  <a:srgbClr val="1F2933"/>
                </a:solidFill>
              </a:rPr>
              <a:t>The row count stays at 520 sessions. Nothing was dropped; the main work was making the model safe to analyse.</a:t>
            </a:r>
            <a:endParaRPr lang="en-US" sz="1200" dirty="0"/>
          </a:p>
        </p:txBody>
      </p:sp>
      <p:sp>
        <p:nvSpPr>
          <p:cNvPr id="9" name="Text 6"/>
          <p:cNvSpPr/>
          <p:nvPr/>
        </p:nvSpPr>
        <p:spPr>
          <a:xfrm>
            <a:off x="6400800" y="4800600"/>
            <a:ext cx="3657600" cy="228600"/>
          </a:xfrm>
          <a:prstGeom prst="rect">
            <a:avLst/>
          </a:prstGeom>
          <a:noFill/>
          <a:ln/>
        </p:spPr>
        <p:txBody>
          <a:bodyPr wrap="square" rtlCol="0" anchor="ctr"/>
          <a:lstStyle/>
          <a:p>
            <a:pPr indent="0" marL="0">
              <a:buNone/>
            </a:pPr>
            <a:r>
              <a:rPr lang="en-US" sz="840" b="1" dirty="0">
                <a:solidFill>
                  <a:srgbClr val="17466E"/>
                </a:solidFill>
              </a:rPr>
              <a:t>WHAT I WOULD SAY IN A PORTFOLIO</a:t>
            </a:r>
            <a:endParaRPr lang="en-US" sz="840" dirty="0"/>
          </a:p>
        </p:txBody>
      </p:sp>
      <p:sp>
        <p:nvSpPr>
          <p:cNvPr id="10" name="Text 7"/>
          <p:cNvSpPr/>
          <p:nvPr/>
        </p:nvSpPr>
        <p:spPr>
          <a:xfrm>
            <a:off x="6400800" y="5074920"/>
            <a:ext cx="4434840" cy="685800"/>
          </a:xfrm>
          <a:prstGeom prst="rect">
            <a:avLst/>
          </a:prstGeom>
          <a:noFill/>
          <a:ln/>
        </p:spPr>
        <p:txBody>
          <a:bodyPr wrap="square" lIns="254" tIns="254" rIns="254" bIns="254" rtlCol="0" anchor="t">
            <a:normAutofit/>
          </a:bodyPr>
          <a:lstStyle/>
          <a:p>
            <a:pPr indent="0" marL="0">
              <a:buNone/>
            </a:pPr>
            <a:r>
              <a:rPr lang="en-US" sz="1150" i="1" dirty="0">
                <a:solidFill>
                  <a:srgbClr val="17466E"/>
                </a:solidFill>
              </a:rPr>
              <a:t>“I validated the structure rather than over-cleaning the data. The important transformation was building a star schema and reusable DAX measures so each visual answered the same business question consistently.”</a:t>
            </a:r>
            <a:endParaRPr lang="en-US" sz="1150" dirty="0"/>
          </a:p>
        </p:txBody>
      </p:sp>
      <p:sp>
        <p:nvSpPr>
          <p:cNvPr id="11" name="Text 8"/>
          <p:cNvSpPr/>
          <p:nvPr/>
        </p:nvSpPr>
        <p:spPr>
          <a:xfrm>
            <a:off x="411480" y="6492240"/>
            <a:ext cx="4572000" cy="164592"/>
          </a:xfrm>
          <a:prstGeom prst="rect">
            <a:avLst/>
          </a:prstGeom>
          <a:noFill/>
          <a:ln/>
        </p:spPr>
        <p:txBody>
          <a:bodyPr wrap="square" rtlCol="0" anchor="ctr"/>
          <a:lstStyle/>
          <a:p>
            <a:pPr indent="0" marL="0">
              <a:buNone/>
            </a:pPr>
            <a:r>
              <a:rPr lang="en-US" sz="660" dirty="0">
                <a:solidFill>
                  <a:srgbClr val="7A8790"/>
                </a:solidFill>
              </a:rPr>
              <a:t>Northstar Tutoring Analytics  ·  Power BI Portfolio</a:t>
            </a:r>
            <a:endParaRPr lang="en-US" sz="660" dirty="0"/>
          </a:p>
        </p:txBody>
      </p:sp>
      <p:sp>
        <p:nvSpPr>
          <p:cNvPr id="12" name="Text 9"/>
          <p:cNvSpPr/>
          <p:nvPr/>
        </p:nvSpPr>
        <p:spPr>
          <a:xfrm>
            <a:off x="11375136" y="6492240"/>
            <a:ext cx="320040" cy="164592"/>
          </a:xfrm>
          <a:prstGeom prst="rect">
            <a:avLst/>
          </a:prstGeom>
          <a:noFill/>
          <a:ln/>
        </p:spPr>
        <p:txBody>
          <a:bodyPr wrap="square" rtlCol="0" anchor="ctr"/>
          <a:lstStyle/>
          <a:p>
            <a:pPr algn="r" indent="0" marL="0">
              <a:buNone/>
            </a:pPr>
            <a:r>
              <a:rPr lang="en-US" sz="660" dirty="0">
                <a:solidFill>
                  <a:srgbClr val="7A8790"/>
                </a:solidFill>
              </a:rPr>
              <a:t>6</a:t>
            </a:r>
            <a:endParaRPr lang="en-US" sz="6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11480" y="146304"/>
            <a:ext cx="4846320" cy="201168"/>
          </a:xfrm>
          <a:prstGeom prst="rect">
            <a:avLst/>
          </a:prstGeom>
          <a:noFill/>
          <a:ln/>
        </p:spPr>
        <p:txBody>
          <a:bodyPr wrap="square" rtlCol="0" anchor="ctr"/>
          <a:lstStyle/>
          <a:p>
            <a:pPr indent="0" marL="0">
              <a:buNone/>
            </a:pPr>
            <a:r>
              <a:rPr lang="en-US" sz="750" b="1" dirty="0">
                <a:solidFill>
                  <a:srgbClr val="5B6770"/>
                </a:solidFill>
                <a:latin typeface="Aptos" pitchFamily="34" charset="0"/>
                <a:ea typeface="Aptos" pitchFamily="34" charset="-122"/>
                <a:cs typeface="Aptos" pitchFamily="34" charset="-120"/>
              </a:rPr>
              <a:t>Power BI PL-300  ·  Portfolio Project</a:t>
            </a:r>
            <a:endParaRPr lang="en-US" sz="750" dirty="0"/>
          </a:p>
        </p:txBody>
      </p:sp>
      <p:sp>
        <p:nvSpPr>
          <p:cNvPr id="3" name="Text 1"/>
          <p:cNvSpPr/>
          <p:nvPr/>
        </p:nvSpPr>
        <p:spPr>
          <a:xfrm>
            <a:off x="411480" y="420624"/>
            <a:ext cx="7680960" cy="384048"/>
          </a:xfrm>
          <a:prstGeom prst="rect">
            <a:avLst/>
          </a:prstGeom>
          <a:noFill/>
          <a:ln/>
        </p:spPr>
        <p:txBody>
          <a:bodyPr wrap="square" rtlCol="0" anchor="ctr">
            <a:normAutofit/>
          </a:bodyPr>
          <a:lstStyle/>
          <a:p>
            <a:pPr indent="0" marL="0">
              <a:buNone/>
            </a:pPr>
            <a:r>
              <a:rPr lang="en-US" sz="2000" b="1" dirty="0">
                <a:solidFill>
                  <a:srgbClr val="17466E"/>
                </a:solidFill>
                <a:latin typeface="Aptos Display" pitchFamily="34" charset="0"/>
                <a:ea typeface="Aptos Display" pitchFamily="34" charset="-122"/>
                <a:cs typeface="Aptos Display" pitchFamily="34" charset="-120"/>
              </a:rPr>
              <a:t>Data Transformation &amp; Modelling</a:t>
            </a:r>
            <a:endParaRPr lang="en-US" sz="2000" dirty="0"/>
          </a:p>
        </p:txBody>
      </p:sp>
      <p:sp>
        <p:nvSpPr>
          <p:cNvPr id="4" name="Shape 2"/>
          <p:cNvSpPr/>
          <p:nvPr/>
        </p:nvSpPr>
        <p:spPr>
          <a:xfrm>
            <a:off x="411480" y="905256"/>
            <a:ext cx="11292840" cy="0"/>
          </a:xfrm>
          <a:prstGeom prst="line">
            <a:avLst/>
          </a:prstGeom>
          <a:noFill/>
          <a:ln w="15240">
            <a:solidFill>
              <a:srgbClr val="17466E"/>
            </a:solidFill>
            <a:prstDash val="solid"/>
          </a:ln>
        </p:spPr>
      </p:sp>
      <p:sp>
        <p:nvSpPr>
          <p:cNvPr id="5" name="Text 3"/>
          <p:cNvSpPr/>
          <p:nvPr/>
        </p:nvSpPr>
        <p:spPr>
          <a:xfrm>
            <a:off x="10972800" y="438912"/>
            <a:ext cx="640080" cy="182880"/>
          </a:xfrm>
          <a:prstGeom prst="rect">
            <a:avLst/>
          </a:prstGeom>
          <a:noFill/>
          <a:ln/>
        </p:spPr>
        <p:txBody>
          <a:bodyPr wrap="square" rtlCol="0" anchor="ctr"/>
          <a:lstStyle/>
          <a:p>
            <a:pPr algn="r" indent="0" marL="0">
              <a:buNone/>
            </a:pPr>
            <a:r>
              <a:rPr lang="en-US" sz="750" dirty="0">
                <a:solidFill>
                  <a:srgbClr val="5B6770"/>
                </a:solidFill>
              </a:rPr>
              <a:t>7 / 12</a:t>
            </a:r>
            <a:endParaRPr lang="en-US" sz="750" dirty="0"/>
          </a:p>
        </p:txBody>
      </p:sp>
      <p:sp>
        <p:nvSpPr>
          <p:cNvPr id="6" name="Text 4"/>
          <p:cNvSpPr/>
          <p:nvPr/>
        </p:nvSpPr>
        <p:spPr>
          <a:xfrm>
            <a:off x="594360" y="1143000"/>
            <a:ext cx="2743200" cy="228600"/>
          </a:xfrm>
          <a:prstGeom prst="rect">
            <a:avLst/>
          </a:prstGeom>
          <a:noFill/>
          <a:ln/>
        </p:spPr>
        <p:txBody>
          <a:bodyPr wrap="square" rtlCol="0" anchor="ctr"/>
          <a:lstStyle/>
          <a:p>
            <a:pPr indent="0" marL="0">
              <a:buNone/>
            </a:pPr>
            <a:r>
              <a:rPr lang="en-US" sz="840" b="1" dirty="0">
                <a:solidFill>
                  <a:srgbClr val="17466E"/>
                </a:solidFill>
              </a:rPr>
              <a:t>CORE MEASURES CREATED</a:t>
            </a:r>
            <a:endParaRPr lang="en-US" sz="840" dirty="0"/>
          </a:p>
        </p:txBody>
      </p:sp>
      <p:sp>
        <p:nvSpPr>
          <p:cNvPr id="7" name="Text 5"/>
          <p:cNvSpPr/>
          <p:nvPr/>
        </p:nvSpPr>
        <p:spPr>
          <a:xfrm>
            <a:off x="594360" y="1444752"/>
            <a:ext cx="3200400" cy="2423160"/>
          </a:xfrm>
          <a:prstGeom prst="rect">
            <a:avLst/>
          </a:prstGeom>
          <a:noFill/>
          <a:ln/>
        </p:spPr>
        <p:txBody>
          <a:bodyPr wrap="square" lIns="254" tIns="254" rIns="254" bIns="254" rtlCol="0" anchor="t">
            <a:normAutofit/>
          </a:bodyPr>
          <a:lstStyle/>
          <a:p>
            <a:pPr indent="0" marL="0">
              <a:buNone/>
            </a:pPr>
            <a:r>
              <a:rPr lang="en-US" sz="1150" dirty="0">
                <a:solidFill>
                  <a:srgbClr val="1F2933"/>
                </a:solidFill>
              </a:rPr>
              <a:t>Total Revenue</a:t>
            </a:r>
            <a:endParaRPr lang="en-US" sz="1150" dirty="0"/>
          </a:p>
          <a:p>
            <a:pPr indent="0" marL="0">
              <a:buNone/>
            </a:pPr>
            <a:r>
              <a:rPr lang="en-US" sz="1150" dirty="0">
                <a:solidFill>
                  <a:srgbClr val="1F2933"/>
                </a:solidFill>
              </a:rPr>
              <a:t>Sessions Booked</a:t>
            </a:r>
            <a:endParaRPr lang="en-US" sz="1150" dirty="0"/>
          </a:p>
          <a:p>
            <a:pPr indent="0" marL="0">
              <a:buNone/>
            </a:pPr>
            <a:r>
              <a:rPr lang="en-US" sz="1150" dirty="0">
                <a:solidFill>
                  <a:srgbClr val="1F2933"/>
                </a:solidFill>
              </a:rPr>
              <a:t>Completed Sessions</a:t>
            </a:r>
            <a:endParaRPr lang="en-US" sz="1150" dirty="0"/>
          </a:p>
          <a:p>
            <a:pPr indent="0" marL="0">
              <a:buNone/>
            </a:pPr>
            <a:r>
              <a:rPr lang="en-US" sz="1150" dirty="0">
                <a:solidFill>
                  <a:srgbClr val="1F2933"/>
                </a:solidFill>
              </a:rPr>
              <a:t>Completion Rate</a:t>
            </a:r>
            <a:endParaRPr lang="en-US" sz="1150" dirty="0"/>
          </a:p>
          <a:p>
            <a:pPr indent="0" marL="0">
              <a:buNone/>
            </a:pPr>
            <a:r>
              <a:rPr lang="en-US" sz="1150" dirty="0">
                <a:solidFill>
                  <a:srgbClr val="1F2933"/>
                </a:solidFill>
              </a:rPr>
              <a:t>Online Revenue / F2F Revenue</a:t>
            </a:r>
            <a:endParaRPr lang="en-US" sz="1150" dirty="0"/>
          </a:p>
          <a:p>
            <a:pPr indent="0" marL="0">
              <a:buNone/>
            </a:pPr>
            <a:r>
              <a:rPr lang="en-US" sz="1150" dirty="0">
                <a:solidFill>
                  <a:srgbClr val="1F2933"/>
                </a:solidFill>
              </a:rPr>
              <a:t>Tutor Cost</a:t>
            </a:r>
            <a:endParaRPr lang="en-US" sz="1150" dirty="0"/>
          </a:p>
          <a:p>
            <a:pPr indent="0" marL="0">
              <a:buNone/>
            </a:pPr>
            <a:r>
              <a:rPr lang="en-US" sz="1150" dirty="0">
                <a:solidFill>
                  <a:srgbClr val="1F2933"/>
                </a:solidFill>
              </a:rPr>
              <a:t>Gross Profit</a:t>
            </a:r>
            <a:endParaRPr lang="en-US" sz="1150" dirty="0"/>
          </a:p>
          <a:p>
            <a:pPr indent="0" marL="0">
              <a:buNone/>
            </a:pPr>
            <a:r>
              <a:rPr lang="en-US" sz="1150" dirty="0">
                <a:solidFill>
                  <a:srgbClr val="1F2933"/>
                </a:solidFill>
              </a:rPr>
              <a:t>Profit Margin %</a:t>
            </a:r>
            <a:endParaRPr lang="en-US" sz="1150" dirty="0"/>
          </a:p>
          <a:p>
            <a:pPr indent="0" marL="0">
              <a:buNone/>
            </a:pPr>
            <a:r>
              <a:rPr lang="en-US" sz="1150" dirty="0">
                <a:solidFill>
                  <a:srgbClr val="1F2933"/>
                </a:solidFill>
              </a:rPr>
              <a:t>Revenue per Completed Session</a:t>
            </a:r>
            <a:endParaRPr lang="en-US" sz="1150" dirty="0"/>
          </a:p>
          <a:p>
            <a:pPr indent="0" marL="0">
              <a:buNone/>
            </a:pPr>
            <a:r>
              <a:rPr lang="en-US" sz="1150" dirty="0">
                <a:solidFill>
                  <a:srgbClr val="1F2933"/>
                </a:solidFill>
              </a:rPr>
              <a:t>Tutor Revenue Rank</a:t>
            </a:r>
            <a:endParaRPr lang="en-US" sz="1150" dirty="0"/>
          </a:p>
          <a:p>
            <a:pPr indent="0" marL="0">
              <a:buNone/>
            </a:pPr>
            <a:r>
              <a:rPr lang="en-US" sz="1150" dirty="0">
                <a:solidFill>
                  <a:srgbClr val="1F2933"/>
                </a:solidFill>
              </a:rPr>
              <a:t>High Satisfaction %</a:t>
            </a:r>
            <a:endParaRPr lang="en-US" sz="1150" dirty="0"/>
          </a:p>
        </p:txBody>
      </p:sp>
      <p:sp>
        <p:nvSpPr>
          <p:cNvPr id="8" name="Text 6"/>
          <p:cNvSpPr/>
          <p:nvPr/>
        </p:nvSpPr>
        <p:spPr>
          <a:xfrm>
            <a:off x="4297680" y="1143000"/>
            <a:ext cx="2926080" cy="228600"/>
          </a:xfrm>
          <a:prstGeom prst="rect">
            <a:avLst/>
          </a:prstGeom>
          <a:noFill/>
          <a:ln/>
        </p:spPr>
        <p:txBody>
          <a:bodyPr wrap="square" rtlCol="0" anchor="ctr"/>
          <a:lstStyle/>
          <a:p>
            <a:pPr indent="0" marL="0">
              <a:buNone/>
            </a:pPr>
            <a:r>
              <a:rPr lang="en-US" sz="840" b="1" dirty="0">
                <a:solidFill>
                  <a:srgbClr val="17466E"/>
                </a:solidFill>
              </a:rPr>
              <a:t>DAX PATTERNS DEMONSTRATED</a:t>
            </a:r>
            <a:endParaRPr lang="en-US" sz="840" dirty="0"/>
          </a:p>
        </p:txBody>
      </p:sp>
      <p:sp>
        <p:nvSpPr>
          <p:cNvPr id="9" name="Text 7"/>
          <p:cNvSpPr/>
          <p:nvPr/>
        </p:nvSpPr>
        <p:spPr>
          <a:xfrm>
            <a:off x="4297680" y="1444752"/>
            <a:ext cx="3749040" cy="2423160"/>
          </a:xfrm>
          <a:prstGeom prst="rect">
            <a:avLst/>
          </a:prstGeom>
          <a:noFill/>
          <a:ln/>
        </p:spPr>
        <p:txBody>
          <a:bodyPr wrap="square" lIns="254" tIns="254" rIns="254" bIns="254" rtlCol="0" anchor="t">
            <a:normAutofit/>
          </a:bodyPr>
          <a:lstStyle/>
          <a:p>
            <a:pPr indent="0" marL="0">
              <a:buNone/>
            </a:pPr>
            <a:r>
              <a:rPr lang="en-US" sz="1130" dirty="0">
                <a:solidFill>
                  <a:srgbClr val="1F2933"/>
                </a:solidFill>
              </a:rPr>
              <a:t>SUM / COUNTROWS / DISTINCTCOUNT</a:t>
            </a:r>
            <a:endParaRPr lang="en-US" sz="1130" dirty="0"/>
          </a:p>
          <a:p>
            <a:pPr indent="0" marL="0">
              <a:buNone/>
            </a:pPr>
            <a:r>
              <a:rPr lang="en-US" sz="1130" dirty="0">
                <a:solidFill>
                  <a:srgbClr val="1F2933"/>
                </a:solidFill>
              </a:rPr>
              <a:t>CALCULATE for status and delivery filters</a:t>
            </a:r>
            <a:endParaRPr lang="en-US" sz="1130" dirty="0"/>
          </a:p>
          <a:p>
            <a:pPr indent="0" marL="0">
              <a:buNone/>
            </a:pPr>
            <a:r>
              <a:rPr lang="en-US" sz="1130" dirty="0">
                <a:solidFill>
                  <a:srgbClr val="1F2933"/>
                </a:solidFill>
              </a:rPr>
              <a:t>DIVIDE for percentages</a:t>
            </a:r>
            <a:endParaRPr lang="en-US" sz="1130" dirty="0"/>
          </a:p>
          <a:p>
            <a:pPr indent="0" marL="0">
              <a:buNone/>
            </a:pPr>
            <a:r>
              <a:rPr lang="en-US" sz="1130" dirty="0">
                <a:solidFill>
                  <a:srgbClr val="1F2933"/>
                </a:solidFill>
              </a:rPr>
              <a:t>SUMX for row-by-row cost</a:t>
            </a:r>
            <a:endParaRPr lang="en-US" sz="1130" dirty="0"/>
          </a:p>
          <a:p>
            <a:pPr indent="0" marL="0">
              <a:buNone/>
            </a:pPr>
            <a:r>
              <a:rPr lang="en-US" sz="1130" dirty="0">
                <a:solidFill>
                  <a:srgbClr val="1F2933"/>
                </a:solidFill>
              </a:rPr>
              <a:t>RELATED to fetch tutor pay rate</a:t>
            </a:r>
            <a:endParaRPr lang="en-US" sz="1130" dirty="0"/>
          </a:p>
          <a:p>
            <a:pPr indent="0" marL="0">
              <a:buNone/>
            </a:pPr>
            <a:r>
              <a:rPr lang="en-US" sz="1130" dirty="0">
                <a:solidFill>
                  <a:srgbClr val="1F2933"/>
                </a:solidFill>
              </a:rPr>
              <a:t>SWITCH for status multipliers</a:t>
            </a:r>
            <a:endParaRPr lang="en-US" sz="1130" dirty="0"/>
          </a:p>
          <a:p>
            <a:pPr indent="0" marL="0">
              <a:buNone/>
            </a:pPr>
            <a:r>
              <a:rPr lang="en-US" sz="1130" dirty="0">
                <a:solidFill>
                  <a:srgbClr val="1F2933"/>
                </a:solidFill>
              </a:rPr>
              <a:t>REMOVEFILTERS for % of total</a:t>
            </a:r>
            <a:endParaRPr lang="en-US" sz="1130" dirty="0"/>
          </a:p>
          <a:p>
            <a:pPr indent="0" marL="0">
              <a:buNone/>
            </a:pPr>
            <a:r>
              <a:rPr lang="en-US" sz="1130" dirty="0">
                <a:solidFill>
                  <a:srgbClr val="1F2933"/>
                </a:solidFill>
              </a:rPr>
              <a:t>TOTALYTD / SAMEPERIODLASTYEAR</a:t>
            </a:r>
            <a:endParaRPr lang="en-US" sz="1130" dirty="0"/>
          </a:p>
          <a:p>
            <a:pPr indent="0" marL="0">
              <a:buNone/>
            </a:pPr>
            <a:r>
              <a:rPr lang="en-US" sz="1130" dirty="0">
                <a:solidFill>
                  <a:srgbClr val="1F2933"/>
                </a:solidFill>
              </a:rPr>
              <a:t>RANKX and SELECTEDVALUE</a:t>
            </a:r>
            <a:endParaRPr lang="en-US" sz="1130" dirty="0"/>
          </a:p>
        </p:txBody>
      </p:sp>
      <p:sp>
        <p:nvSpPr>
          <p:cNvPr id="10" name="Text 8"/>
          <p:cNvSpPr/>
          <p:nvPr/>
        </p:nvSpPr>
        <p:spPr>
          <a:xfrm>
            <a:off x="8412480" y="1143000"/>
            <a:ext cx="2560320" cy="228600"/>
          </a:xfrm>
          <a:prstGeom prst="rect">
            <a:avLst/>
          </a:prstGeom>
          <a:noFill/>
          <a:ln/>
        </p:spPr>
        <p:txBody>
          <a:bodyPr wrap="square" rtlCol="0" anchor="ctr"/>
          <a:lstStyle/>
          <a:p>
            <a:pPr indent="0" marL="0">
              <a:buNone/>
            </a:pPr>
            <a:r>
              <a:rPr lang="en-US" sz="840" b="1" dirty="0">
                <a:solidFill>
                  <a:srgbClr val="17466E"/>
                </a:solidFill>
              </a:rPr>
              <a:t>EXAMPLE MEASURE LOGIC</a:t>
            </a:r>
            <a:endParaRPr lang="en-US" sz="840" dirty="0"/>
          </a:p>
        </p:txBody>
      </p:sp>
      <p:sp>
        <p:nvSpPr>
          <p:cNvPr id="11" name="Shape 9"/>
          <p:cNvSpPr/>
          <p:nvPr/>
        </p:nvSpPr>
        <p:spPr>
          <a:xfrm>
            <a:off x="8412480" y="1444752"/>
            <a:ext cx="2971800" cy="1325880"/>
          </a:xfrm>
          <a:prstGeom prst="roundRect">
            <a:avLst>
              <a:gd name="adj" fmla="val 4138"/>
            </a:avLst>
          </a:prstGeom>
          <a:solidFill>
            <a:srgbClr val="F3F7FB"/>
          </a:solidFill>
          <a:ln w="8890">
            <a:solidFill>
              <a:srgbClr val="E9EDF0"/>
            </a:solidFill>
            <a:prstDash val="solid"/>
          </a:ln>
        </p:spPr>
      </p:sp>
      <p:sp>
        <p:nvSpPr>
          <p:cNvPr id="12" name="Text 10"/>
          <p:cNvSpPr/>
          <p:nvPr/>
        </p:nvSpPr>
        <p:spPr>
          <a:xfrm>
            <a:off x="8595360" y="1609344"/>
            <a:ext cx="2606040" cy="960120"/>
          </a:xfrm>
          <a:prstGeom prst="rect">
            <a:avLst/>
          </a:prstGeom>
          <a:noFill/>
          <a:ln/>
        </p:spPr>
        <p:txBody>
          <a:bodyPr wrap="square" rtlCol="0" anchor="ctr">
            <a:normAutofit/>
          </a:bodyPr>
          <a:lstStyle/>
          <a:p>
            <a:pPr indent="0" marL="0">
              <a:buNone/>
            </a:pPr>
            <a:r>
              <a:rPr lang="en-US" sz="1020" dirty="0">
                <a:solidFill>
                  <a:srgbClr val="1F2933"/>
                </a:solidFill>
                <a:latin typeface="Aptos Mono" pitchFamily="34" charset="0"/>
                <a:ea typeface="Aptos Mono" pitchFamily="34" charset="-122"/>
                <a:cs typeface="Aptos Mono" pitchFamily="34" charset="-120"/>
              </a:rPr>
              <a:t>Tutor Cost =</a:t>
            </a:r>
            <a:endParaRPr lang="en-US" sz="1020" dirty="0"/>
          </a:p>
          <a:p>
            <a:pPr indent="0" marL="0">
              <a:buNone/>
            </a:pPr>
            <a:r>
              <a:rPr lang="en-US" sz="1020" dirty="0">
                <a:solidFill>
                  <a:srgbClr val="1F2933"/>
                </a:solidFill>
                <a:latin typeface="Aptos Mono" pitchFamily="34" charset="0"/>
                <a:ea typeface="Aptos Mono" pitchFamily="34" charset="-122"/>
                <a:cs typeface="Aptos Mono" pitchFamily="34" charset="-120"/>
              </a:rPr>
              <a:t>SUMX( Sessions,</a:t>
            </a:r>
            <a:endParaRPr lang="en-US" sz="1020" dirty="0"/>
          </a:p>
          <a:p>
            <a:pPr indent="0" marL="0">
              <a:buNone/>
            </a:pPr>
            <a:r>
              <a:rPr lang="en-US" sz="1020" dirty="0">
                <a:solidFill>
                  <a:srgbClr val="1F2933"/>
                </a:solidFill>
                <a:latin typeface="Aptos Mono" pitchFamily="34" charset="0"/>
                <a:ea typeface="Aptos Mono" pitchFamily="34" charset="-122"/>
                <a:cs typeface="Aptos Mono" pitchFamily="34" charset="-120"/>
              </a:rPr>
              <a:t>  DurationHours ×</a:t>
            </a:r>
            <a:endParaRPr lang="en-US" sz="1020" dirty="0"/>
          </a:p>
          <a:p>
            <a:pPr indent="0" marL="0">
              <a:buNone/>
            </a:pPr>
            <a:r>
              <a:rPr lang="en-US" sz="1020" dirty="0">
                <a:solidFill>
                  <a:srgbClr val="1F2933"/>
                </a:solidFill>
                <a:latin typeface="Aptos Mono" pitchFamily="34" charset="0"/>
                <a:ea typeface="Aptos Mono" pitchFamily="34" charset="-122"/>
                <a:cs typeface="Aptos Mono" pitchFamily="34" charset="-120"/>
              </a:rPr>
              <a:t>  RELATED(PayRate) ×</a:t>
            </a:r>
            <a:endParaRPr lang="en-US" sz="1020" dirty="0"/>
          </a:p>
          <a:p>
            <a:pPr indent="0" marL="0">
              <a:buNone/>
            </a:pPr>
            <a:r>
              <a:rPr lang="en-US" sz="1020" dirty="0">
                <a:solidFill>
                  <a:srgbClr val="1F2933"/>
                </a:solidFill>
                <a:latin typeface="Aptos Mono" pitchFamily="34" charset="0"/>
                <a:ea typeface="Aptos Mono" pitchFamily="34" charset="-122"/>
                <a:cs typeface="Aptos Mono" pitchFamily="34" charset="-120"/>
              </a:rPr>
              <a:t>  status multiplier</a:t>
            </a:r>
            <a:endParaRPr lang="en-US" sz="1020" dirty="0"/>
          </a:p>
          <a:p>
            <a:pPr indent="0" marL="0">
              <a:buNone/>
            </a:pPr>
            <a:r>
              <a:rPr lang="en-US" sz="1020" dirty="0">
                <a:solidFill>
                  <a:srgbClr val="1F2933"/>
                </a:solidFill>
                <a:latin typeface="Aptos Mono" pitchFamily="34" charset="0"/>
                <a:ea typeface="Aptos Mono" pitchFamily="34" charset="-122"/>
                <a:cs typeface="Aptos Mono" pitchFamily="34" charset="-120"/>
              </a:rPr>
              <a:t>)</a:t>
            </a:r>
            <a:endParaRPr lang="en-US" sz="1020" dirty="0"/>
          </a:p>
        </p:txBody>
      </p:sp>
      <p:sp>
        <p:nvSpPr>
          <p:cNvPr id="13" name="Shape 11"/>
          <p:cNvSpPr/>
          <p:nvPr/>
        </p:nvSpPr>
        <p:spPr>
          <a:xfrm>
            <a:off x="8412480" y="3063240"/>
            <a:ext cx="2971800" cy="960120"/>
          </a:xfrm>
          <a:prstGeom prst="roundRect">
            <a:avLst>
              <a:gd name="adj" fmla="val 5714"/>
            </a:avLst>
          </a:prstGeom>
          <a:solidFill>
            <a:srgbClr val="EAF5ED"/>
          </a:solidFill>
          <a:ln w="8890">
            <a:solidFill>
              <a:srgbClr val="CFE4D6"/>
            </a:solidFill>
            <a:prstDash val="solid"/>
          </a:ln>
        </p:spPr>
      </p:sp>
      <p:sp>
        <p:nvSpPr>
          <p:cNvPr id="14" name="Text 12"/>
          <p:cNvSpPr/>
          <p:nvPr/>
        </p:nvSpPr>
        <p:spPr>
          <a:xfrm>
            <a:off x="8595360" y="3273552"/>
            <a:ext cx="2606040" cy="411480"/>
          </a:xfrm>
          <a:prstGeom prst="rect">
            <a:avLst/>
          </a:prstGeom>
          <a:noFill/>
          <a:ln/>
        </p:spPr>
        <p:txBody>
          <a:bodyPr wrap="square" rtlCol="0" anchor="ctr">
            <a:normAutofit/>
          </a:bodyPr>
          <a:lstStyle/>
          <a:p>
            <a:pPr indent="0" marL="0">
              <a:buNone/>
            </a:pPr>
            <a:r>
              <a:rPr lang="en-US" sz="1020" dirty="0">
                <a:solidFill>
                  <a:srgbClr val="17466E"/>
                </a:solidFill>
              </a:rPr>
              <a:t>Why this matters: cost is not an existing column; it has to be calculated row by row before being summed.</a:t>
            </a:r>
            <a:endParaRPr lang="en-US" sz="1020" dirty="0"/>
          </a:p>
        </p:txBody>
      </p:sp>
      <p:sp>
        <p:nvSpPr>
          <p:cNvPr id="15" name="Text 13"/>
          <p:cNvSpPr/>
          <p:nvPr/>
        </p:nvSpPr>
        <p:spPr>
          <a:xfrm>
            <a:off x="594360" y="4617720"/>
            <a:ext cx="2011680" cy="228600"/>
          </a:xfrm>
          <a:prstGeom prst="rect">
            <a:avLst/>
          </a:prstGeom>
          <a:noFill/>
          <a:ln/>
        </p:spPr>
        <p:txBody>
          <a:bodyPr wrap="square" rtlCol="0" anchor="ctr"/>
          <a:lstStyle/>
          <a:p>
            <a:pPr indent="0" marL="0">
              <a:buNone/>
            </a:pPr>
            <a:r>
              <a:rPr lang="en-US" sz="840" b="1" dirty="0">
                <a:solidFill>
                  <a:srgbClr val="17466E"/>
                </a:solidFill>
              </a:rPr>
              <a:t>MODEL OUTCOME</a:t>
            </a:r>
            <a:endParaRPr lang="en-US" sz="840" dirty="0"/>
          </a:p>
        </p:txBody>
      </p:sp>
      <p:sp>
        <p:nvSpPr>
          <p:cNvPr id="16" name="Text 14"/>
          <p:cNvSpPr/>
          <p:nvPr/>
        </p:nvSpPr>
        <p:spPr>
          <a:xfrm>
            <a:off x="594360" y="4892040"/>
            <a:ext cx="10515600" cy="502920"/>
          </a:xfrm>
          <a:prstGeom prst="rect">
            <a:avLst/>
          </a:prstGeom>
          <a:noFill/>
          <a:ln/>
        </p:spPr>
        <p:txBody>
          <a:bodyPr wrap="square" lIns="254" tIns="254" rIns="254" bIns="254" rtlCol="0" anchor="t">
            <a:normAutofit/>
          </a:bodyPr>
          <a:lstStyle/>
          <a:p>
            <a:pPr indent="0" marL="0">
              <a:buNone/>
            </a:pPr>
            <a:r>
              <a:rPr lang="en-US" sz="1200" dirty="0">
                <a:solidFill>
                  <a:srgbClr val="1F2933"/>
                </a:solidFill>
              </a:rPr>
              <a:t>A report user can select a subject, tutor, region or date period and the same measures recalculate without duplicated formulas or fragile spreadsheet-style cell references.</a:t>
            </a:r>
            <a:endParaRPr lang="en-US" sz="1200" dirty="0"/>
          </a:p>
        </p:txBody>
      </p:sp>
      <p:sp>
        <p:nvSpPr>
          <p:cNvPr id="17" name="Text 15"/>
          <p:cNvSpPr/>
          <p:nvPr/>
        </p:nvSpPr>
        <p:spPr>
          <a:xfrm>
            <a:off x="411480" y="6492240"/>
            <a:ext cx="4572000" cy="164592"/>
          </a:xfrm>
          <a:prstGeom prst="rect">
            <a:avLst/>
          </a:prstGeom>
          <a:noFill/>
          <a:ln/>
        </p:spPr>
        <p:txBody>
          <a:bodyPr wrap="square" rtlCol="0" anchor="ctr"/>
          <a:lstStyle/>
          <a:p>
            <a:pPr indent="0" marL="0">
              <a:buNone/>
            </a:pPr>
            <a:r>
              <a:rPr lang="en-US" sz="660" dirty="0">
                <a:solidFill>
                  <a:srgbClr val="7A8790"/>
                </a:solidFill>
              </a:rPr>
              <a:t>Northstar Tutoring Analytics  ·  Power BI Portfolio</a:t>
            </a:r>
            <a:endParaRPr lang="en-US" sz="660" dirty="0"/>
          </a:p>
        </p:txBody>
      </p:sp>
      <p:sp>
        <p:nvSpPr>
          <p:cNvPr id="18" name="Text 16"/>
          <p:cNvSpPr/>
          <p:nvPr/>
        </p:nvSpPr>
        <p:spPr>
          <a:xfrm>
            <a:off x="11375136" y="6492240"/>
            <a:ext cx="320040" cy="164592"/>
          </a:xfrm>
          <a:prstGeom prst="rect">
            <a:avLst/>
          </a:prstGeom>
          <a:noFill/>
          <a:ln/>
        </p:spPr>
        <p:txBody>
          <a:bodyPr wrap="square" rtlCol="0" anchor="ctr"/>
          <a:lstStyle/>
          <a:p>
            <a:pPr algn="r" indent="0" marL="0">
              <a:buNone/>
            </a:pPr>
            <a:r>
              <a:rPr lang="en-US" sz="660" dirty="0">
                <a:solidFill>
                  <a:srgbClr val="7A8790"/>
                </a:solidFill>
              </a:rPr>
              <a:t>7</a:t>
            </a:r>
            <a:endParaRPr lang="en-US" sz="6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11480" y="146304"/>
            <a:ext cx="4846320" cy="201168"/>
          </a:xfrm>
          <a:prstGeom prst="rect">
            <a:avLst/>
          </a:prstGeom>
          <a:noFill/>
          <a:ln/>
        </p:spPr>
        <p:txBody>
          <a:bodyPr wrap="square" rtlCol="0" anchor="ctr"/>
          <a:lstStyle/>
          <a:p>
            <a:pPr indent="0" marL="0">
              <a:buNone/>
            </a:pPr>
            <a:r>
              <a:rPr lang="en-US" sz="750" b="1" dirty="0">
                <a:solidFill>
                  <a:srgbClr val="5B6770"/>
                </a:solidFill>
                <a:latin typeface="Aptos" pitchFamily="34" charset="0"/>
                <a:ea typeface="Aptos" pitchFamily="34" charset="-122"/>
                <a:cs typeface="Aptos" pitchFamily="34" charset="-120"/>
              </a:rPr>
              <a:t>Power BI PL-300  ·  Portfolio Project</a:t>
            </a:r>
            <a:endParaRPr lang="en-US" sz="750" dirty="0"/>
          </a:p>
        </p:txBody>
      </p:sp>
      <p:sp>
        <p:nvSpPr>
          <p:cNvPr id="3" name="Text 1"/>
          <p:cNvSpPr/>
          <p:nvPr/>
        </p:nvSpPr>
        <p:spPr>
          <a:xfrm>
            <a:off x="411480" y="420624"/>
            <a:ext cx="7680960" cy="384048"/>
          </a:xfrm>
          <a:prstGeom prst="rect">
            <a:avLst/>
          </a:prstGeom>
          <a:noFill/>
          <a:ln/>
        </p:spPr>
        <p:txBody>
          <a:bodyPr wrap="square" rtlCol="0" anchor="ctr">
            <a:normAutofit/>
          </a:bodyPr>
          <a:lstStyle/>
          <a:p>
            <a:pPr indent="0" marL="0">
              <a:buNone/>
            </a:pPr>
            <a:r>
              <a:rPr lang="en-US" sz="2000" b="1" dirty="0">
                <a:solidFill>
                  <a:srgbClr val="17466E"/>
                </a:solidFill>
                <a:latin typeface="Aptos Display" pitchFamily="34" charset="0"/>
                <a:ea typeface="Aptos Display" pitchFamily="34" charset="-122"/>
                <a:cs typeface="Aptos Display" pitchFamily="34" charset="-120"/>
              </a:rPr>
              <a:t>Exploratory Data Analysis (EDA)</a:t>
            </a:r>
            <a:endParaRPr lang="en-US" sz="2000" dirty="0"/>
          </a:p>
        </p:txBody>
      </p:sp>
      <p:sp>
        <p:nvSpPr>
          <p:cNvPr id="4" name="Shape 2"/>
          <p:cNvSpPr/>
          <p:nvPr/>
        </p:nvSpPr>
        <p:spPr>
          <a:xfrm>
            <a:off x="411480" y="905256"/>
            <a:ext cx="11292840" cy="0"/>
          </a:xfrm>
          <a:prstGeom prst="line">
            <a:avLst/>
          </a:prstGeom>
          <a:noFill/>
          <a:ln w="15240">
            <a:solidFill>
              <a:srgbClr val="17466E"/>
            </a:solidFill>
            <a:prstDash val="solid"/>
          </a:ln>
        </p:spPr>
      </p:sp>
      <p:sp>
        <p:nvSpPr>
          <p:cNvPr id="5" name="Text 3"/>
          <p:cNvSpPr/>
          <p:nvPr/>
        </p:nvSpPr>
        <p:spPr>
          <a:xfrm>
            <a:off x="10972800" y="438912"/>
            <a:ext cx="640080" cy="182880"/>
          </a:xfrm>
          <a:prstGeom prst="rect">
            <a:avLst/>
          </a:prstGeom>
          <a:noFill/>
          <a:ln/>
        </p:spPr>
        <p:txBody>
          <a:bodyPr wrap="square" rtlCol="0" anchor="ctr"/>
          <a:lstStyle/>
          <a:p>
            <a:pPr algn="r" indent="0" marL="0">
              <a:buNone/>
            </a:pPr>
            <a:r>
              <a:rPr lang="en-US" sz="750" dirty="0">
                <a:solidFill>
                  <a:srgbClr val="5B6770"/>
                </a:solidFill>
              </a:rPr>
              <a:t>8 / 12</a:t>
            </a:r>
            <a:endParaRPr lang="en-US" sz="750" dirty="0"/>
          </a:p>
        </p:txBody>
      </p:sp>
      <p:sp>
        <p:nvSpPr>
          <p:cNvPr id="6" name="Shape 4"/>
          <p:cNvSpPr/>
          <p:nvPr/>
        </p:nvSpPr>
        <p:spPr>
          <a:xfrm>
            <a:off x="594360" y="1115568"/>
            <a:ext cx="1645920" cy="694944"/>
          </a:xfrm>
          <a:prstGeom prst="roundRect">
            <a:avLst>
              <a:gd name="adj" fmla="val 10526"/>
            </a:avLst>
          </a:prstGeom>
          <a:solidFill>
            <a:srgbClr val="F6F8FA"/>
          </a:solidFill>
          <a:ln w="8890">
            <a:solidFill>
              <a:srgbClr val="E9EDF0"/>
            </a:solidFill>
            <a:prstDash val="solid"/>
          </a:ln>
        </p:spPr>
      </p:sp>
      <p:sp>
        <p:nvSpPr>
          <p:cNvPr id="7" name="Text 5"/>
          <p:cNvSpPr/>
          <p:nvPr/>
        </p:nvSpPr>
        <p:spPr>
          <a:xfrm>
            <a:off x="704088" y="1225296"/>
            <a:ext cx="142646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£22.1k</a:t>
            </a:r>
            <a:endParaRPr lang="en-US" sz="1700" dirty="0"/>
          </a:p>
        </p:txBody>
      </p:sp>
      <p:sp>
        <p:nvSpPr>
          <p:cNvPr id="8" name="Text 6"/>
          <p:cNvSpPr/>
          <p:nvPr/>
        </p:nvSpPr>
        <p:spPr>
          <a:xfrm>
            <a:off x="704088" y="1545336"/>
            <a:ext cx="142646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Total Revenue</a:t>
            </a:r>
            <a:endParaRPr lang="en-US" sz="770" dirty="0"/>
          </a:p>
        </p:txBody>
      </p:sp>
      <p:sp>
        <p:nvSpPr>
          <p:cNvPr id="9" name="Shape 7"/>
          <p:cNvSpPr/>
          <p:nvPr/>
        </p:nvSpPr>
        <p:spPr>
          <a:xfrm>
            <a:off x="2423160" y="1115568"/>
            <a:ext cx="1645920" cy="694944"/>
          </a:xfrm>
          <a:prstGeom prst="roundRect">
            <a:avLst>
              <a:gd name="adj" fmla="val 10526"/>
            </a:avLst>
          </a:prstGeom>
          <a:solidFill>
            <a:srgbClr val="F6F8FA"/>
          </a:solidFill>
          <a:ln w="8890">
            <a:solidFill>
              <a:srgbClr val="E9EDF0"/>
            </a:solidFill>
            <a:prstDash val="solid"/>
          </a:ln>
        </p:spPr>
      </p:sp>
      <p:sp>
        <p:nvSpPr>
          <p:cNvPr id="10" name="Text 8"/>
          <p:cNvSpPr/>
          <p:nvPr/>
        </p:nvSpPr>
        <p:spPr>
          <a:xfrm>
            <a:off x="2532888" y="1225296"/>
            <a:ext cx="142646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£6.6k</a:t>
            </a:r>
            <a:endParaRPr lang="en-US" sz="1700" dirty="0"/>
          </a:p>
        </p:txBody>
      </p:sp>
      <p:sp>
        <p:nvSpPr>
          <p:cNvPr id="11" name="Text 9"/>
          <p:cNvSpPr/>
          <p:nvPr/>
        </p:nvSpPr>
        <p:spPr>
          <a:xfrm>
            <a:off x="2532888" y="1545336"/>
            <a:ext cx="142646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Gross Profit</a:t>
            </a:r>
            <a:endParaRPr lang="en-US" sz="770" dirty="0"/>
          </a:p>
        </p:txBody>
      </p:sp>
      <p:sp>
        <p:nvSpPr>
          <p:cNvPr id="12" name="Shape 10"/>
          <p:cNvSpPr/>
          <p:nvPr/>
        </p:nvSpPr>
        <p:spPr>
          <a:xfrm>
            <a:off x="4251960" y="1115568"/>
            <a:ext cx="1645920" cy="694944"/>
          </a:xfrm>
          <a:prstGeom prst="roundRect">
            <a:avLst>
              <a:gd name="adj" fmla="val 10526"/>
            </a:avLst>
          </a:prstGeom>
          <a:solidFill>
            <a:srgbClr val="F6F8FA"/>
          </a:solidFill>
          <a:ln w="8890">
            <a:solidFill>
              <a:srgbClr val="E9EDF0"/>
            </a:solidFill>
            <a:prstDash val="solid"/>
          </a:ln>
        </p:spPr>
      </p:sp>
      <p:sp>
        <p:nvSpPr>
          <p:cNvPr id="13" name="Text 11"/>
          <p:cNvSpPr/>
          <p:nvPr/>
        </p:nvSpPr>
        <p:spPr>
          <a:xfrm>
            <a:off x="4361688" y="1225296"/>
            <a:ext cx="142646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29.8%</a:t>
            </a:r>
            <a:endParaRPr lang="en-US" sz="1700" dirty="0"/>
          </a:p>
        </p:txBody>
      </p:sp>
      <p:sp>
        <p:nvSpPr>
          <p:cNvPr id="14" name="Text 12"/>
          <p:cNvSpPr/>
          <p:nvPr/>
        </p:nvSpPr>
        <p:spPr>
          <a:xfrm>
            <a:off x="4361688" y="1545336"/>
            <a:ext cx="142646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Profit Margin</a:t>
            </a:r>
            <a:endParaRPr lang="en-US" sz="770" dirty="0"/>
          </a:p>
        </p:txBody>
      </p:sp>
      <p:sp>
        <p:nvSpPr>
          <p:cNvPr id="15" name="Shape 13"/>
          <p:cNvSpPr/>
          <p:nvPr/>
        </p:nvSpPr>
        <p:spPr>
          <a:xfrm>
            <a:off x="6080760" y="1115568"/>
            <a:ext cx="1645920" cy="694944"/>
          </a:xfrm>
          <a:prstGeom prst="roundRect">
            <a:avLst>
              <a:gd name="adj" fmla="val 10526"/>
            </a:avLst>
          </a:prstGeom>
          <a:solidFill>
            <a:srgbClr val="F6F8FA"/>
          </a:solidFill>
          <a:ln w="8890">
            <a:solidFill>
              <a:srgbClr val="E9EDF0"/>
            </a:solidFill>
            <a:prstDash val="solid"/>
          </a:ln>
        </p:spPr>
      </p:sp>
      <p:sp>
        <p:nvSpPr>
          <p:cNvPr id="16" name="Text 14"/>
          <p:cNvSpPr/>
          <p:nvPr/>
        </p:nvSpPr>
        <p:spPr>
          <a:xfrm>
            <a:off x="6190488" y="1225296"/>
            <a:ext cx="142646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87.7%</a:t>
            </a:r>
            <a:endParaRPr lang="en-US" sz="1700" dirty="0"/>
          </a:p>
        </p:txBody>
      </p:sp>
      <p:sp>
        <p:nvSpPr>
          <p:cNvPr id="17" name="Text 15"/>
          <p:cNvSpPr/>
          <p:nvPr/>
        </p:nvSpPr>
        <p:spPr>
          <a:xfrm>
            <a:off x="6190488" y="1545336"/>
            <a:ext cx="142646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Completion Rate</a:t>
            </a:r>
            <a:endParaRPr lang="en-US" sz="770" dirty="0"/>
          </a:p>
        </p:txBody>
      </p:sp>
      <p:sp>
        <p:nvSpPr>
          <p:cNvPr id="18" name="Shape 16"/>
          <p:cNvSpPr/>
          <p:nvPr/>
        </p:nvSpPr>
        <p:spPr>
          <a:xfrm>
            <a:off x="7909560" y="1115568"/>
            <a:ext cx="1645920" cy="694944"/>
          </a:xfrm>
          <a:prstGeom prst="roundRect">
            <a:avLst>
              <a:gd name="adj" fmla="val 10526"/>
            </a:avLst>
          </a:prstGeom>
          <a:solidFill>
            <a:srgbClr val="F6F8FA"/>
          </a:solidFill>
          <a:ln w="8890">
            <a:solidFill>
              <a:srgbClr val="E9EDF0"/>
            </a:solidFill>
            <a:prstDash val="solid"/>
          </a:ln>
        </p:spPr>
      </p:sp>
      <p:sp>
        <p:nvSpPr>
          <p:cNvPr id="19" name="Text 17"/>
          <p:cNvSpPr/>
          <p:nvPr/>
        </p:nvSpPr>
        <p:spPr>
          <a:xfrm>
            <a:off x="8019288" y="1225296"/>
            <a:ext cx="142646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4.34</a:t>
            </a:r>
            <a:endParaRPr lang="en-US" sz="1700" dirty="0"/>
          </a:p>
        </p:txBody>
      </p:sp>
      <p:sp>
        <p:nvSpPr>
          <p:cNvPr id="20" name="Text 18"/>
          <p:cNvSpPr/>
          <p:nvPr/>
        </p:nvSpPr>
        <p:spPr>
          <a:xfrm>
            <a:off x="8019288" y="1545336"/>
            <a:ext cx="142646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Avg Satisfaction</a:t>
            </a:r>
            <a:endParaRPr lang="en-US" sz="770" dirty="0"/>
          </a:p>
        </p:txBody>
      </p:sp>
      <p:sp>
        <p:nvSpPr>
          <p:cNvPr id="21" name="Shape 19"/>
          <p:cNvSpPr/>
          <p:nvPr/>
        </p:nvSpPr>
        <p:spPr>
          <a:xfrm>
            <a:off x="9738360" y="1115568"/>
            <a:ext cx="1645920" cy="694944"/>
          </a:xfrm>
          <a:prstGeom prst="roundRect">
            <a:avLst>
              <a:gd name="adj" fmla="val 10526"/>
            </a:avLst>
          </a:prstGeom>
          <a:solidFill>
            <a:srgbClr val="F6F8FA"/>
          </a:solidFill>
          <a:ln w="8890">
            <a:solidFill>
              <a:srgbClr val="E9EDF0"/>
            </a:solidFill>
            <a:prstDash val="solid"/>
          </a:ln>
        </p:spPr>
      </p:sp>
      <p:sp>
        <p:nvSpPr>
          <p:cNvPr id="22" name="Text 20"/>
          <p:cNvSpPr/>
          <p:nvPr/>
        </p:nvSpPr>
        <p:spPr>
          <a:xfrm>
            <a:off x="9848088" y="1225296"/>
            <a:ext cx="1426464" cy="256032"/>
          </a:xfrm>
          <a:prstGeom prst="rect">
            <a:avLst/>
          </a:prstGeom>
          <a:noFill/>
          <a:ln/>
        </p:spPr>
        <p:txBody>
          <a:bodyPr wrap="square" lIns="0" tIns="0" rIns="0" bIns="0" rtlCol="0" anchor="ctr">
            <a:normAutofit/>
          </a:bodyPr>
          <a:lstStyle/>
          <a:p>
            <a:pPr indent="0" marL="0">
              <a:buNone/>
            </a:pPr>
            <a:r>
              <a:rPr lang="en-US" sz="1700" b="1" dirty="0">
                <a:solidFill>
                  <a:srgbClr val="2F7DBA"/>
                </a:solidFill>
              </a:rPr>
              <a:t>48.5%</a:t>
            </a:r>
            <a:endParaRPr lang="en-US" sz="1700" dirty="0"/>
          </a:p>
        </p:txBody>
      </p:sp>
      <p:sp>
        <p:nvSpPr>
          <p:cNvPr id="23" name="Text 21"/>
          <p:cNvSpPr/>
          <p:nvPr/>
        </p:nvSpPr>
        <p:spPr>
          <a:xfrm>
            <a:off x="9848088" y="1545336"/>
            <a:ext cx="1426464" cy="164592"/>
          </a:xfrm>
          <a:prstGeom prst="rect">
            <a:avLst/>
          </a:prstGeom>
          <a:noFill/>
          <a:ln/>
        </p:spPr>
        <p:txBody>
          <a:bodyPr wrap="square" lIns="0" tIns="0" rIns="0" bIns="0" rtlCol="0" anchor="ctr">
            <a:normAutofit/>
          </a:bodyPr>
          <a:lstStyle/>
          <a:p>
            <a:pPr indent="0" marL="0">
              <a:buNone/>
            </a:pPr>
            <a:r>
              <a:rPr lang="en-US" sz="770" dirty="0">
                <a:solidFill>
                  <a:srgbClr val="5B6770"/>
                </a:solidFill>
              </a:rPr>
              <a:t>5-star Rate</a:t>
            </a:r>
            <a:endParaRPr lang="en-US" sz="77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2194560"/>
          <a:ext cx="5074920" cy="2834640"/>
        </p:xfrm>
        <a:graphic>
          <a:graphicData uri="http://schemas.openxmlformats.org/drawingml/2006/table">
            <a:tbl>
              <a:tblPr/>
              <a:tblGrid>
                <a:gridCol w="1965960"/>
                <a:gridCol w="1280160"/>
                <a:gridCol w="1828800"/>
              </a:tblGrid>
              <a:tr h="404949">
                <a:tc>
                  <a:txBody>
                    <a:bodyPr/>
                    <a:lstStyle/>
                    <a:p>
                      <a:pPr indent="0" marL="0">
                        <a:buNone/>
                      </a:pPr>
                      <a:r>
                        <a:rPr lang="en-US" sz="850" b="1" dirty="0">
                          <a:solidFill>
                            <a:srgbClr val="FFFFFF"/>
                          </a:solidFill>
                        </a:rPr>
                        <a:t>Measure</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c>
                  <a:txBody>
                    <a:bodyPr/>
                    <a:lstStyle/>
                    <a:p>
                      <a:pPr indent="0" marL="0">
                        <a:buNone/>
                      </a:pPr>
                      <a:r>
                        <a:rPr lang="en-US" sz="850" b="1" dirty="0">
                          <a:solidFill>
                            <a:srgbClr val="FFFFFF"/>
                          </a:solidFill>
                        </a:rPr>
                        <a:t>Result</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c>
                  <a:txBody>
                    <a:bodyPr/>
                    <a:lstStyle/>
                    <a:p>
                      <a:pPr indent="0" marL="0">
                        <a:buNone/>
                      </a:pPr>
                      <a:r>
                        <a:rPr lang="en-US" sz="850" b="1" dirty="0">
                          <a:solidFill>
                            <a:srgbClr val="FFFFFF"/>
                          </a:solidFill>
                        </a:rPr>
                        <a:t>Reading</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r>
              <a:tr h="404949">
                <a:tc>
                  <a:txBody>
                    <a:bodyPr/>
                    <a:lstStyle/>
                    <a:p>
                      <a:pPr indent="0" marL="0">
                        <a:buNone/>
                      </a:pPr>
                      <a:r>
                        <a:rPr lang="en-US" sz="850" dirty="0">
                          <a:solidFill>
                            <a:srgbClr val="1F2933"/>
                          </a:solidFill>
                        </a:rPr>
                        <a:t>Sessions booked</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50" dirty="0">
                          <a:solidFill>
                            <a:srgbClr val="1F2933"/>
                          </a:solidFill>
                        </a:rPr>
                        <a:t>520</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50" dirty="0">
                          <a:solidFill>
                            <a:srgbClr val="1F2933"/>
                          </a:solidFill>
                        </a:rPr>
                        <a:t>Small but complete operational dataset.</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404949">
                <a:tc>
                  <a:txBody>
                    <a:bodyPr/>
                    <a:lstStyle/>
                    <a:p>
                      <a:pPr indent="0" marL="0">
                        <a:buNone/>
                      </a:pPr>
                      <a:r>
                        <a:rPr lang="en-US" sz="850" dirty="0">
                          <a:solidFill>
                            <a:srgbClr val="1F2933"/>
                          </a:solidFill>
                        </a:rPr>
                        <a:t>Completed sessions</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rPr>
                        <a:t>456</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rPr>
                        <a:t>Most sessions are delivered successfully.</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r h="404949">
                <a:tc>
                  <a:txBody>
                    <a:bodyPr/>
                    <a:lstStyle/>
                    <a:p>
                      <a:pPr indent="0" marL="0">
                        <a:buNone/>
                      </a:pPr>
                      <a:r>
                        <a:rPr lang="en-US" sz="850" dirty="0">
                          <a:solidFill>
                            <a:srgbClr val="1F2933"/>
                          </a:solidFill>
                        </a:rPr>
                        <a:t>Online revenue</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50" dirty="0">
                          <a:solidFill>
                            <a:srgbClr val="1F2933"/>
                          </a:solidFill>
                        </a:rPr>
                        <a:t>£15.4k</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50" dirty="0">
                          <a:solidFill>
                            <a:srgbClr val="1F2933"/>
                          </a:solidFill>
                        </a:rPr>
                        <a:t>Online is the dominant delivery mode.</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404949">
                <a:tc>
                  <a:txBody>
                    <a:bodyPr/>
                    <a:lstStyle/>
                    <a:p>
                      <a:pPr indent="0" marL="0">
                        <a:buNone/>
                      </a:pPr>
                      <a:r>
                        <a:rPr lang="en-US" sz="850" dirty="0">
                          <a:solidFill>
                            <a:srgbClr val="1F2933"/>
                          </a:solidFill>
                        </a:rPr>
                        <a:t>Face-to-face revenue</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rPr>
                        <a:t>£6.7k</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rPr>
                        <a:t>F2F is smaller but still material.</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r h="404949">
                <a:tc>
                  <a:txBody>
                    <a:bodyPr/>
                    <a:lstStyle/>
                    <a:p>
                      <a:pPr indent="0" marL="0">
                        <a:buNone/>
                      </a:pPr>
                      <a:r>
                        <a:rPr lang="en-US" sz="850" dirty="0">
                          <a:solidFill>
                            <a:srgbClr val="1F2933"/>
                          </a:solidFill>
                        </a:rPr>
                        <a:t>Revenue per completed session</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50" dirty="0">
                          <a:solidFill>
                            <a:srgbClr val="1F2933"/>
                          </a:solidFill>
                        </a:rPr>
                        <a:t>£46.64</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50" dirty="0">
                          <a:solidFill>
                            <a:srgbClr val="1F2933"/>
                          </a:solidFill>
                        </a:rPr>
                        <a:t>Useful operational benchmark for pricing and scheduling.</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404949">
                <a:tc>
                  <a:txBody>
                    <a:bodyPr/>
                    <a:lstStyle/>
                    <a:p>
                      <a:pPr indent="0" marL="0">
                        <a:buNone/>
                      </a:pPr>
                      <a:r>
                        <a:rPr lang="en-US" sz="850" dirty="0">
                          <a:solidFill>
                            <a:srgbClr val="1F2933"/>
                          </a:solidFill>
                        </a:rPr>
                        <a:t>Tutor cost</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rPr>
                        <a:t>£15.6k</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rPr>
                        <a:t>Cost base absorbs about 70% of charged revenue.</a:t>
                      </a:r>
                      <a:endParaRPr lang="en-US" sz="85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bl>
          </a:graphicData>
        </a:graphic>
      </p:graphicFrame>
      <p:sp>
        <p:nvSpPr>
          <p:cNvPr id="25" name="Text 22"/>
          <p:cNvSpPr/>
          <p:nvPr/>
        </p:nvSpPr>
        <p:spPr>
          <a:xfrm>
            <a:off x="6309360" y="1892808"/>
            <a:ext cx="4937760" cy="182880"/>
          </a:xfrm>
          <a:prstGeom prst="rect">
            <a:avLst/>
          </a:prstGeom>
          <a:noFill/>
          <a:ln/>
        </p:spPr>
        <p:txBody>
          <a:bodyPr wrap="square" lIns="0" tIns="0" rIns="0" bIns="0" rtlCol="0" anchor="ctr">
            <a:normAutofit/>
          </a:bodyPr>
          <a:lstStyle/>
          <a:p>
            <a:pPr indent="0" marL="0">
              <a:buNone/>
            </a:pPr>
            <a:r>
              <a:rPr lang="en-US" sz="1050" b="1" dirty="0">
                <a:solidFill>
                  <a:srgbClr val="1F2933"/>
                </a:solidFill>
              </a:rPr>
              <a:t>Revenue by Subject</a:t>
            </a:r>
            <a:endParaRPr lang="en-US" sz="1050" dirty="0"/>
          </a:p>
        </p:txBody>
      </p:sp>
      <p:graphicFrame>
        <p:nvGraphicFramePr>
          <p:cNvPr id="26" name="Chart 0" descr=""/>
          <p:cNvGraphicFramePr/>
          <p:nvPr/>
        </p:nvGraphicFramePr>
        <p:xfrm>
          <a:off x="6309360" y="2148840"/>
          <a:ext cx="4937760" cy="2834640"/>
        </p:xfrm>
        <a:graphic xmlns:a="http://schemas.openxmlformats.org/drawingml/2006/main">
          <a:graphicData uri="http://schemas.openxmlformats.org/drawingml/2006/chart">
            <c:chart xmlns:c="http://schemas.openxmlformats.org/drawingml/2006/chart" r:id="rId1"/>
          </a:graphicData>
        </a:graphic>
      </p:graphicFrame>
      <p:sp>
        <p:nvSpPr>
          <p:cNvPr id="27" name="Text 23"/>
          <p:cNvSpPr/>
          <p:nvPr/>
        </p:nvSpPr>
        <p:spPr>
          <a:xfrm>
            <a:off x="777240" y="5440680"/>
            <a:ext cx="10424160" cy="502920"/>
          </a:xfrm>
          <a:prstGeom prst="rect">
            <a:avLst/>
          </a:prstGeom>
          <a:noFill/>
          <a:ln/>
        </p:spPr>
        <p:txBody>
          <a:bodyPr wrap="square" lIns="254" tIns="254" rIns="254" bIns="254" rtlCol="0" anchor="t">
            <a:normAutofit/>
          </a:bodyPr>
          <a:lstStyle/>
          <a:p>
            <a:pPr indent="0" marL="0">
              <a:buNone/>
            </a:pPr>
            <a:r>
              <a:rPr lang="en-US" sz="1220" b="1" dirty="0">
                <a:solidFill>
                  <a:srgbClr val="17466E"/>
                </a:solidFill>
              </a:rPr>
              <a:t>Read: revenue is concentrated in Maths subjects, especially GCSE Maths and A Level Maths. Science and English exist, but Maths is the core of the operating model.</a:t>
            </a:r>
            <a:endParaRPr lang="en-US" sz="1220" dirty="0"/>
          </a:p>
        </p:txBody>
      </p:sp>
      <p:sp>
        <p:nvSpPr>
          <p:cNvPr id="28" name="Text 24"/>
          <p:cNvSpPr/>
          <p:nvPr/>
        </p:nvSpPr>
        <p:spPr>
          <a:xfrm>
            <a:off x="411480" y="6492240"/>
            <a:ext cx="4572000" cy="164592"/>
          </a:xfrm>
          <a:prstGeom prst="rect">
            <a:avLst/>
          </a:prstGeom>
          <a:noFill/>
          <a:ln/>
        </p:spPr>
        <p:txBody>
          <a:bodyPr wrap="square" rtlCol="0" anchor="ctr"/>
          <a:lstStyle/>
          <a:p>
            <a:pPr indent="0" marL="0">
              <a:buNone/>
            </a:pPr>
            <a:r>
              <a:rPr lang="en-US" sz="660" dirty="0">
                <a:solidFill>
                  <a:srgbClr val="7A8790"/>
                </a:solidFill>
              </a:rPr>
              <a:t>Northstar Tutoring Analytics  ·  Power BI Portfolio</a:t>
            </a:r>
            <a:endParaRPr lang="en-US" sz="660" dirty="0"/>
          </a:p>
        </p:txBody>
      </p:sp>
      <p:sp>
        <p:nvSpPr>
          <p:cNvPr id="29" name="Text 25"/>
          <p:cNvSpPr/>
          <p:nvPr/>
        </p:nvSpPr>
        <p:spPr>
          <a:xfrm>
            <a:off x="11375136" y="6492240"/>
            <a:ext cx="320040" cy="164592"/>
          </a:xfrm>
          <a:prstGeom prst="rect">
            <a:avLst/>
          </a:prstGeom>
          <a:noFill/>
          <a:ln/>
        </p:spPr>
        <p:txBody>
          <a:bodyPr wrap="square" rtlCol="0" anchor="ctr"/>
          <a:lstStyle/>
          <a:p>
            <a:pPr algn="r" indent="0" marL="0">
              <a:buNone/>
            </a:pPr>
            <a:r>
              <a:rPr lang="en-US" sz="660" dirty="0">
                <a:solidFill>
                  <a:srgbClr val="7A8790"/>
                </a:solidFill>
              </a:rPr>
              <a:t>8</a:t>
            </a:r>
            <a:endParaRPr lang="en-US" sz="6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11480" y="146304"/>
            <a:ext cx="4846320" cy="201168"/>
          </a:xfrm>
          <a:prstGeom prst="rect">
            <a:avLst/>
          </a:prstGeom>
          <a:noFill/>
          <a:ln/>
        </p:spPr>
        <p:txBody>
          <a:bodyPr wrap="square" rtlCol="0" anchor="ctr"/>
          <a:lstStyle/>
          <a:p>
            <a:pPr indent="0" marL="0">
              <a:buNone/>
            </a:pPr>
            <a:r>
              <a:rPr lang="en-US" sz="750" b="1" dirty="0">
                <a:solidFill>
                  <a:srgbClr val="5B6770"/>
                </a:solidFill>
                <a:latin typeface="Aptos" pitchFamily="34" charset="0"/>
                <a:ea typeface="Aptos" pitchFamily="34" charset="-122"/>
                <a:cs typeface="Aptos" pitchFamily="34" charset="-120"/>
              </a:rPr>
              <a:t>Power BI PL-300  ·  Portfolio Project</a:t>
            </a:r>
            <a:endParaRPr lang="en-US" sz="750" dirty="0"/>
          </a:p>
        </p:txBody>
      </p:sp>
      <p:sp>
        <p:nvSpPr>
          <p:cNvPr id="3" name="Text 1"/>
          <p:cNvSpPr/>
          <p:nvPr/>
        </p:nvSpPr>
        <p:spPr>
          <a:xfrm>
            <a:off x="411480" y="420624"/>
            <a:ext cx="7680960" cy="384048"/>
          </a:xfrm>
          <a:prstGeom prst="rect">
            <a:avLst/>
          </a:prstGeom>
          <a:noFill/>
          <a:ln/>
        </p:spPr>
        <p:txBody>
          <a:bodyPr wrap="square" rtlCol="0" anchor="ctr">
            <a:normAutofit/>
          </a:bodyPr>
          <a:lstStyle/>
          <a:p>
            <a:pPr indent="0" marL="0">
              <a:buNone/>
            </a:pPr>
            <a:r>
              <a:rPr lang="en-US" sz="2000" b="1" dirty="0">
                <a:solidFill>
                  <a:srgbClr val="17466E"/>
                </a:solidFill>
                <a:latin typeface="Aptos Display" pitchFamily="34" charset="0"/>
                <a:ea typeface="Aptos Display" pitchFamily="34" charset="-122"/>
                <a:cs typeface="Aptos Display" pitchFamily="34" charset="-120"/>
              </a:rPr>
              <a:t>Visual Analysis</a:t>
            </a:r>
            <a:endParaRPr lang="en-US" sz="2000" dirty="0"/>
          </a:p>
        </p:txBody>
      </p:sp>
      <p:sp>
        <p:nvSpPr>
          <p:cNvPr id="4" name="Shape 2"/>
          <p:cNvSpPr/>
          <p:nvPr/>
        </p:nvSpPr>
        <p:spPr>
          <a:xfrm>
            <a:off x="411480" y="905256"/>
            <a:ext cx="11292840" cy="0"/>
          </a:xfrm>
          <a:prstGeom prst="line">
            <a:avLst/>
          </a:prstGeom>
          <a:noFill/>
          <a:ln w="15240">
            <a:solidFill>
              <a:srgbClr val="17466E"/>
            </a:solidFill>
            <a:prstDash val="solid"/>
          </a:ln>
        </p:spPr>
      </p:sp>
      <p:sp>
        <p:nvSpPr>
          <p:cNvPr id="5" name="Text 3"/>
          <p:cNvSpPr/>
          <p:nvPr/>
        </p:nvSpPr>
        <p:spPr>
          <a:xfrm>
            <a:off x="10972800" y="438912"/>
            <a:ext cx="640080" cy="182880"/>
          </a:xfrm>
          <a:prstGeom prst="rect">
            <a:avLst/>
          </a:prstGeom>
          <a:noFill/>
          <a:ln/>
        </p:spPr>
        <p:txBody>
          <a:bodyPr wrap="square" rtlCol="0" anchor="ctr"/>
          <a:lstStyle/>
          <a:p>
            <a:pPr algn="r" indent="0" marL="0">
              <a:buNone/>
            </a:pPr>
            <a:r>
              <a:rPr lang="en-US" sz="750" dirty="0">
                <a:solidFill>
                  <a:srgbClr val="5B6770"/>
                </a:solidFill>
              </a:rPr>
              <a:t>9 / 12</a:t>
            </a:r>
            <a:endParaRPr lang="en-US" sz="750" dirty="0"/>
          </a:p>
        </p:txBody>
      </p:sp>
      <p:sp>
        <p:nvSpPr>
          <p:cNvPr id="6" name="Text 4"/>
          <p:cNvSpPr/>
          <p:nvPr/>
        </p:nvSpPr>
        <p:spPr>
          <a:xfrm>
            <a:off x="685800" y="1069848"/>
            <a:ext cx="5029200" cy="182880"/>
          </a:xfrm>
          <a:prstGeom prst="rect">
            <a:avLst/>
          </a:prstGeom>
          <a:noFill/>
          <a:ln/>
        </p:spPr>
        <p:txBody>
          <a:bodyPr wrap="square" lIns="0" tIns="0" rIns="0" bIns="0" rtlCol="0" anchor="ctr">
            <a:normAutofit/>
          </a:bodyPr>
          <a:lstStyle/>
          <a:p>
            <a:pPr indent="0" marL="0">
              <a:buNone/>
            </a:pPr>
            <a:r>
              <a:rPr lang="en-US" sz="1050" b="1" dirty="0">
                <a:solidFill>
                  <a:srgbClr val="1F2933"/>
                </a:solidFill>
              </a:rPr>
              <a:t>Monthly Revenue Trend</a:t>
            </a:r>
            <a:endParaRPr lang="en-US" sz="1050" dirty="0"/>
          </a:p>
        </p:txBody>
      </p:sp>
      <p:graphicFrame>
        <p:nvGraphicFramePr>
          <p:cNvPr id="7" name="Chart 0" descr=""/>
          <p:cNvGraphicFramePr/>
          <p:nvPr/>
        </p:nvGraphicFramePr>
        <p:xfrm>
          <a:off x="685800" y="1325880"/>
          <a:ext cx="5029200" cy="19659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263640" y="1069848"/>
            <a:ext cx="4937760" cy="182880"/>
          </a:xfrm>
          <a:prstGeom prst="rect">
            <a:avLst/>
          </a:prstGeom>
          <a:noFill/>
          <a:ln/>
        </p:spPr>
        <p:txBody>
          <a:bodyPr wrap="square" lIns="0" tIns="0" rIns="0" bIns="0" rtlCol="0" anchor="ctr">
            <a:normAutofit/>
          </a:bodyPr>
          <a:lstStyle/>
          <a:p>
            <a:pPr indent="0" marL="0">
              <a:buNone/>
            </a:pPr>
            <a:r>
              <a:rPr lang="en-US" sz="1050" b="1" dirty="0">
                <a:solidFill>
                  <a:srgbClr val="1F2933"/>
                </a:solidFill>
              </a:rPr>
              <a:t>Tutor Revenue</a:t>
            </a:r>
            <a:endParaRPr lang="en-US" sz="1050" dirty="0"/>
          </a:p>
        </p:txBody>
      </p:sp>
      <p:graphicFrame>
        <p:nvGraphicFramePr>
          <p:cNvPr id="9" name="Chart 1" descr=""/>
          <p:cNvGraphicFramePr/>
          <p:nvPr/>
        </p:nvGraphicFramePr>
        <p:xfrm>
          <a:off x="6263640" y="1325880"/>
          <a:ext cx="4937760" cy="196596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p:nvPr/>
        </p:nvSpPr>
        <p:spPr>
          <a:xfrm>
            <a:off x="685800" y="3904488"/>
            <a:ext cx="3657600" cy="182880"/>
          </a:xfrm>
          <a:prstGeom prst="rect">
            <a:avLst/>
          </a:prstGeom>
          <a:noFill/>
          <a:ln/>
        </p:spPr>
        <p:txBody>
          <a:bodyPr wrap="square" lIns="0" tIns="0" rIns="0" bIns="0" rtlCol="0" anchor="ctr">
            <a:normAutofit/>
          </a:bodyPr>
          <a:lstStyle/>
          <a:p>
            <a:pPr indent="0" marL="0">
              <a:buNone/>
            </a:pPr>
            <a:r>
              <a:rPr lang="en-US" sz="1050" b="1" dirty="0">
                <a:solidFill>
                  <a:srgbClr val="1F2933"/>
                </a:solidFill>
              </a:rPr>
              <a:t>Session Status Mix</a:t>
            </a:r>
            <a:endParaRPr lang="en-US" sz="1050" dirty="0"/>
          </a:p>
        </p:txBody>
      </p:sp>
      <p:graphicFrame>
        <p:nvGraphicFramePr>
          <p:cNvPr id="11" name="Chart 2" descr=""/>
          <p:cNvGraphicFramePr/>
          <p:nvPr/>
        </p:nvGraphicFramePr>
        <p:xfrm>
          <a:off x="685800" y="4160520"/>
          <a:ext cx="3657600" cy="1234440"/>
        </p:xfrm>
        <a:graphic xmlns:a="http://schemas.openxmlformats.org/drawingml/2006/main">
          <a:graphicData uri="http://schemas.openxmlformats.org/drawingml/2006/chart">
            <c:chart xmlns:c="http://schemas.openxmlformats.org/drawingml/2006/chart" r:id="rId3"/>
          </a:graphicData>
        </a:graphic>
      </p:graphicFrame>
      <p:sp>
        <p:nvSpPr>
          <p:cNvPr id="12" name="Text 7"/>
          <p:cNvSpPr/>
          <p:nvPr/>
        </p:nvSpPr>
        <p:spPr>
          <a:xfrm>
            <a:off x="4892040" y="3904488"/>
            <a:ext cx="2971800" cy="182880"/>
          </a:xfrm>
          <a:prstGeom prst="rect">
            <a:avLst/>
          </a:prstGeom>
          <a:noFill/>
          <a:ln/>
        </p:spPr>
        <p:txBody>
          <a:bodyPr wrap="square" lIns="0" tIns="0" rIns="0" bIns="0" rtlCol="0" anchor="ctr">
            <a:normAutofit/>
          </a:bodyPr>
          <a:lstStyle/>
          <a:p>
            <a:pPr indent="0" marL="0">
              <a:buNone/>
            </a:pPr>
            <a:r>
              <a:rPr lang="en-US" sz="1050" b="1" dirty="0">
                <a:solidFill>
                  <a:srgbClr val="1F2933"/>
                </a:solidFill>
              </a:rPr>
              <a:t>Region Revenue</a:t>
            </a:r>
            <a:endParaRPr lang="en-US" sz="1050" dirty="0"/>
          </a:p>
        </p:txBody>
      </p:sp>
      <p:graphicFrame>
        <p:nvGraphicFramePr>
          <p:cNvPr id="13" name="Chart 3" descr=""/>
          <p:cNvGraphicFramePr/>
          <p:nvPr/>
        </p:nvGraphicFramePr>
        <p:xfrm>
          <a:off x="4892040" y="4160520"/>
          <a:ext cx="2971800" cy="1234440"/>
        </p:xfrm>
        <a:graphic xmlns:a="http://schemas.openxmlformats.org/drawingml/2006/main">
          <a:graphicData uri="http://schemas.openxmlformats.org/drawingml/2006/chart">
            <c:chart xmlns:c="http://schemas.openxmlformats.org/drawingml/2006/chart" r:id="rId4"/>
          </a:graphicData>
        </a:graphic>
      </p:graphicFrame>
      <p:sp>
        <p:nvSpPr>
          <p:cNvPr id="14" name="Text 8"/>
          <p:cNvSpPr/>
          <p:nvPr/>
        </p:nvSpPr>
        <p:spPr>
          <a:xfrm>
            <a:off x="8366760" y="3904488"/>
            <a:ext cx="2880360" cy="182880"/>
          </a:xfrm>
          <a:prstGeom prst="rect">
            <a:avLst/>
          </a:prstGeom>
          <a:noFill/>
          <a:ln/>
        </p:spPr>
        <p:txBody>
          <a:bodyPr wrap="square" lIns="0" tIns="0" rIns="0" bIns="0" rtlCol="0" anchor="ctr">
            <a:normAutofit/>
          </a:bodyPr>
          <a:lstStyle/>
          <a:p>
            <a:pPr indent="0" marL="0">
              <a:buNone/>
            </a:pPr>
            <a:r>
              <a:rPr lang="en-US" sz="1050" b="1" dirty="0">
                <a:solidFill>
                  <a:srgbClr val="1F2933"/>
                </a:solidFill>
              </a:rPr>
              <a:t>Tutor 5-star Rate</a:t>
            </a:r>
            <a:endParaRPr lang="en-US" sz="1050" dirty="0"/>
          </a:p>
        </p:txBody>
      </p:sp>
      <p:graphicFrame>
        <p:nvGraphicFramePr>
          <p:cNvPr id="15" name="Chart 4" descr=""/>
          <p:cNvGraphicFramePr/>
          <p:nvPr/>
        </p:nvGraphicFramePr>
        <p:xfrm>
          <a:off x="8366760" y="4160520"/>
          <a:ext cx="2880360" cy="1234440"/>
        </p:xfrm>
        <a:graphic xmlns:a="http://schemas.openxmlformats.org/drawingml/2006/main">
          <a:graphicData uri="http://schemas.openxmlformats.org/drawingml/2006/chart">
            <c:chart xmlns:c="http://schemas.openxmlformats.org/drawingml/2006/chart" r:id="rId5"/>
          </a:graphicData>
        </a:graphic>
      </p:graphicFrame>
      <p:sp>
        <p:nvSpPr>
          <p:cNvPr id="16" name="Shape 9"/>
          <p:cNvSpPr/>
          <p:nvPr/>
        </p:nvSpPr>
        <p:spPr>
          <a:xfrm>
            <a:off x="685800" y="3419856"/>
            <a:ext cx="10561320" cy="256032"/>
          </a:xfrm>
          <a:prstGeom prst="roundRect">
            <a:avLst>
              <a:gd name="adj" fmla="val 17857"/>
            </a:avLst>
          </a:prstGeom>
          <a:solidFill>
            <a:srgbClr val="EAF4FB"/>
          </a:solidFill>
          <a:ln w="12700">
            <a:solidFill>
              <a:srgbClr val="EAF4FB"/>
            </a:solidFill>
            <a:prstDash val="solid"/>
          </a:ln>
        </p:spPr>
      </p:sp>
      <p:sp>
        <p:nvSpPr>
          <p:cNvPr id="17" name="Text 10"/>
          <p:cNvSpPr/>
          <p:nvPr/>
        </p:nvSpPr>
        <p:spPr>
          <a:xfrm>
            <a:off x="822960" y="3493008"/>
            <a:ext cx="10149840" cy="109728"/>
          </a:xfrm>
          <a:prstGeom prst="rect">
            <a:avLst/>
          </a:prstGeom>
          <a:noFill/>
          <a:ln/>
        </p:spPr>
        <p:txBody>
          <a:bodyPr wrap="square" rtlCol="0" anchor="ctr">
            <a:normAutofit/>
          </a:bodyPr>
          <a:lstStyle/>
          <a:p>
            <a:pPr indent="0" marL="0">
              <a:buNone/>
            </a:pPr>
            <a:r>
              <a:rPr lang="en-US" sz="950" b="1" dirty="0">
                <a:solidFill>
                  <a:srgbClr val="17466E"/>
                </a:solidFill>
              </a:rPr>
              <a:t>Three useful findings: Maths drives demand; Tutor D leads revenue, but several tutors have stronger 5-star rates; Yorkshire is the largest student/revenue region.</a:t>
            </a:r>
            <a:endParaRPr lang="en-US" sz="950" dirty="0"/>
          </a:p>
        </p:txBody>
      </p:sp>
      <p:sp>
        <p:nvSpPr>
          <p:cNvPr id="18" name="Text 11"/>
          <p:cNvSpPr/>
          <p:nvPr/>
        </p:nvSpPr>
        <p:spPr>
          <a:xfrm>
            <a:off x="411480" y="6492240"/>
            <a:ext cx="4572000" cy="164592"/>
          </a:xfrm>
          <a:prstGeom prst="rect">
            <a:avLst/>
          </a:prstGeom>
          <a:noFill/>
          <a:ln/>
        </p:spPr>
        <p:txBody>
          <a:bodyPr wrap="square" rtlCol="0" anchor="ctr"/>
          <a:lstStyle/>
          <a:p>
            <a:pPr indent="0" marL="0">
              <a:buNone/>
            </a:pPr>
            <a:r>
              <a:rPr lang="en-US" sz="660" dirty="0">
                <a:solidFill>
                  <a:srgbClr val="7A8790"/>
                </a:solidFill>
              </a:rPr>
              <a:t>Northstar Tutoring Analytics  ·  Power BI Portfolio</a:t>
            </a:r>
            <a:endParaRPr lang="en-US" sz="660" dirty="0"/>
          </a:p>
        </p:txBody>
      </p:sp>
      <p:sp>
        <p:nvSpPr>
          <p:cNvPr id="19" name="Text 12"/>
          <p:cNvSpPr/>
          <p:nvPr/>
        </p:nvSpPr>
        <p:spPr>
          <a:xfrm>
            <a:off x="11375136" y="6492240"/>
            <a:ext cx="320040" cy="164592"/>
          </a:xfrm>
          <a:prstGeom prst="rect">
            <a:avLst/>
          </a:prstGeom>
          <a:noFill/>
          <a:ln/>
        </p:spPr>
        <p:txBody>
          <a:bodyPr wrap="square" rtlCol="0" anchor="ctr"/>
          <a:lstStyle/>
          <a:p>
            <a:pPr algn="r" indent="0" marL="0">
              <a:buNone/>
            </a:pPr>
            <a:r>
              <a:rPr lang="en-US" sz="660" dirty="0">
                <a:solidFill>
                  <a:srgbClr val="7A8790"/>
                </a:solidFill>
              </a:rPr>
              <a:t>9</a:t>
            </a:r>
            <a:endParaRPr lang="en-US" sz="6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11480" y="146304"/>
            <a:ext cx="4846320" cy="201168"/>
          </a:xfrm>
          <a:prstGeom prst="rect">
            <a:avLst/>
          </a:prstGeom>
          <a:noFill/>
          <a:ln/>
        </p:spPr>
        <p:txBody>
          <a:bodyPr wrap="square" rtlCol="0" anchor="ctr"/>
          <a:lstStyle/>
          <a:p>
            <a:pPr indent="0" marL="0">
              <a:buNone/>
            </a:pPr>
            <a:r>
              <a:rPr lang="en-US" sz="750" b="1" dirty="0">
                <a:solidFill>
                  <a:srgbClr val="5B6770"/>
                </a:solidFill>
                <a:latin typeface="Aptos" pitchFamily="34" charset="0"/>
                <a:ea typeface="Aptos" pitchFamily="34" charset="-122"/>
                <a:cs typeface="Aptos" pitchFamily="34" charset="-120"/>
              </a:rPr>
              <a:t>Power BI PL-300  ·  Portfolio Project</a:t>
            </a:r>
            <a:endParaRPr lang="en-US" sz="750" dirty="0"/>
          </a:p>
        </p:txBody>
      </p:sp>
      <p:sp>
        <p:nvSpPr>
          <p:cNvPr id="3" name="Text 1"/>
          <p:cNvSpPr/>
          <p:nvPr/>
        </p:nvSpPr>
        <p:spPr>
          <a:xfrm>
            <a:off x="411480" y="420624"/>
            <a:ext cx="7680960" cy="384048"/>
          </a:xfrm>
          <a:prstGeom prst="rect">
            <a:avLst/>
          </a:prstGeom>
          <a:noFill/>
          <a:ln/>
        </p:spPr>
        <p:txBody>
          <a:bodyPr wrap="square" rtlCol="0" anchor="ctr">
            <a:normAutofit/>
          </a:bodyPr>
          <a:lstStyle/>
          <a:p>
            <a:pPr indent="0" marL="0">
              <a:buNone/>
            </a:pPr>
            <a:r>
              <a:rPr lang="en-US" sz="2000" b="1" dirty="0">
                <a:solidFill>
                  <a:srgbClr val="17466E"/>
                </a:solidFill>
                <a:latin typeface="Aptos Display" pitchFamily="34" charset="0"/>
                <a:ea typeface="Aptos Display" pitchFamily="34" charset="-122"/>
                <a:cs typeface="Aptos Display" pitchFamily="34" charset="-120"/>
              </a:rPr>
              <a:t>Insights &amp; Findings</a:t>
            </a:r>
            <a:endParaRPr lang="en-US" sz="2000" dirty="0"/>
          </a:p>
        </p:txBody>
      </p:sp>
      <p:sp>
        <p:nvSpPr>
          <p:cNvPr id="4" name="Shape 2"/>
          <p:cNvSpPr/>
          <p:nvPr/>
        </p:nvSpPr>
        <p:spPr>
          <a:xfrm>
            <a:off x="411480" y="905256"/>
            <a:ext cx="11292840" cy="0"/>
          </a:xfrm>
          <a:prstGeom prst="line">
            <a:avLst/>
          </a:prstGeom>
          <a:noFill/>
          <a:ln w="15240">
            <a:solidFill>
              <a:srgbClr val="17466E"/>
            </a:solidFill>
            <a:prstDash val="solid"/>
          </a:ln>
        </p:spPr>
      </p:sp>
      <p:sp>
        <p:nvSpPr>
          <p:cNvPr id="5" name="Text 3"/>
          <p:cNvSpPr/>
          <p:nvPr/>
        </p:nvSpPr>
        <p:spPr>
          <a:xfrm>
            <a:off x="10972800" y="438912"/>
            <a:ext cx="640080" cy="182880"/>
          </a:xfrm>
          <a:prstGeom prst="rect">
            <a:avLst/>
          </a:prstGeom>
          <a:noFill/>
          <a:ln/>
        </p:spPr>
        <p:txBody>
          <a:bodyPr wrap="square" rtlCol="0" anchor="ctr"/>
          <a:lstStyle/>
          <a:p>
            <a:pPr algn="r" indent="0" marL="0">
              <a:buNone/>
            </a:pPr>
            <a:r>
              <a:rPr lang="en-US" sz="750" dirty="0">
                <a:solidFill>
                  <a:srgbClr val="5B6770"/>
                </a:solidFill>
              </a:rPr>
              <a:t>10 / 12</a:t>
            </a:r>
            <a:endParaRPr lang="en-US" sz="7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58368" y="1170432"/>
          <a:ext cx="10881360" cy="3657600"/>
        </p:xfrm>
        <a:graphic>
          <a:graphicData uri="http://schemas.openxmlformats.org/drawingml/2006/table">
            <a:tbl>
              <a:tblPr/>
              <a:tblGrid>
                <a:gridCol w="2377440"/>
                <a:gridCol w="8503920"/>
              </a:tblGrid>
              <a:tr h="522514">
                <a:tc>
                  <a:txBody>
                    <a:bodyPr/>
                    <a:lstStyle/>
                    <a:p>
                      <a:pPr indent="0" marL="0">
                        <a:buNone/>
                      </a:pPr>
                      <a:r>
                        <a:rPr lang="en-US" sz="870" b="1" dirty="0">
                          <a:solidFill>
                            <a:srgbClr val="FFFFFF"/>
                          </a:solidFill>
                        </a:rPr>
                        <a:t>Question</a:t>
                      </a:r>
                      <a:endParaRPr lang="en-US" sz="87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c>
                  <a:txBody>
                    <a:bodyPr/>
                    <a:lstStyle/>
                    <a:p>
                      <a:pPr indent="0" marL="0">
                        <a:buNone/>
                      </a:pPr>
                      <a:r>
                        <a:rPr lang="en-US" sz="870" b="1" dirty="0">
                          <a:solidFill>
                            <a:srgbClr val="FFFFFF"/>
                          </a:solidFill>
                        </a:rPr>
                        <a:t>Answer from the data</a:t>
                      </a:r>
                      <a:endParaRPr lang="en-US" sz="87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r>
              <a:tr h="522514">
                <a:tc>
                  <a:txBody>
                    <a:bodyPr/>
                    <a:lstStyle/>
                    <a:p>
                      <a:pPr indent="0" marL="0">
                        <a:buNone/>
                      </a:pPr>
                      <a:r>
                        <a:rPr lang="en-US" sz="870" dirty="0">
                          <a:solidFill>
                            <a:srgbClr val="1F2933"/>
                          </a:solidFill>
                        </a:rPr>
                        <a:t>1. Revenue and profit</a:t>
                      </a:r>
                      <a:endParaRPr lang="en-US" sz="87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70" dirty="0">
                          <a:solidFill>
                            <a:srgbClr val="1F2933"/>
                          </a:solidFill>
                        </a:rPr>
                        <a:t>£22.1k revenue, £6.6k gross profit, 29.8% margin.</a:t>
                      </a:r>
                      <a:endParaRPr lang="en-US" sz="87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522514">
                <a:tc>
                  <a:txBody>
                    <a:bodyPr/>
                    <a:lstStyle/>
                    <a:p>
                      <a:pPr indent="0" marL="0">
                        <a:buNone/>
                      </a:pPr>
                      <a:r>
                        <a:rPr lang="en-US" sz="870" dirty="0">
                          <a:solidFill>
                            <a:srgbClr val="1F2933"/>
                          </a:solidFill>
                        </a:rPr>
                        <a:t>2. Completion</a:t>
                      </a:r>
                      <a:endParaRPr lang="en-US" sz="87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70" dirty="0">
                          <a:solidFill>
                            <a:srgbClr val="1F2933"/>
                          </a:solidFill>
                        </a:rPr>
                        <a:t>456 of 520 sessions completed: 87.7%. Cancelled early sessions carry £0 revenue but still show lost capacity.</a:t>
                      </a:r>
                      <a:endParaRPr lang="en-US" sz="87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r h="522514">
                <a:tc>
                  <a:txBody>
                    <a:bodyPr/>
                    <a:lstStyle/>
                    <a:p>
                      <a:pPr indent="0" marL="0">
                        <a:buNone/>
                      </a:pPr>
                      <a:r>
                        <a:rPr lang="en-US" sz="870" dirty="0">
                          <a:solidFill>
                            <a:srgbClr val="1F2933"/>
                          </a:solidFill>
                        </a:rPr>
                        <a:t>3. Subject demand</a:t>
                      </a:r>
                      <a:endParaRPr lang="en-US" sz="87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70" dirty="0">
                          <a:solidFill>
                            <a:srgbClr val="1F2933"/>
                          </a:solidFill>
                        </a:rPr>
                        <a:t>GCSE Maths is the largest subject by revenue (£7.0k), followed by A Level Maths (£4.9k) and KS3 Maths (£3.7k).</a:t>
                      </a:r>
                      <a:endParaRPr lang="en-US" sz="87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522514">
                <a:tc>
                  <a:txBody>
                    <a:bodyPr/>
                    <a:lstStyle/>
                    <a:p>
                      <a:pPr indent="0" marL="0">
                        <a:buNone/>
                      </a:pPr>
                      <a:r>
                        <a:rPr lang="en-US" sz="870" dirty="0">
                          <a:solidFill>
                            <a:srgbClr val="1F2933"/>
                          </a:solidFill>
                        </a:rPr>
                        <a:t>4. Delivery mode</a:t>
                      </a:r>
                      <a:endParaRPr lang="en-US" sz="87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70" dirty="0">
                          <a:solidFill>
                            <a:srgbClr val="1F2933"/>
                          </a:solidFill>
                        </a:rPr>
                        <a:t>Online accounts for £15.4k, roughly 70% of revenue. Face-to-face adds £6.7k.</a:t>
                      </a:r>
                      <a:endParaRPr lang="en-US" sz="87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r h="522514">
                <a:tc>
                  <a:txBody>
                    <a:bodyPr/>
                    <a:lstStyle/>
                    <a:p>
                      <a:pPr indent="0" marL="0">
                        <a:buNone/>
                      </a:pPr>
                      <a:r>
                        <a:rPr lang="en-US" sz="870" dirty="0">
                          <a:solidFill>
                            <a:srgbClr val="1F2933"/>
                          </a:solidFill>
                        </a:rPr>
                        <a:t>5. Tutor performance</a:t>
                      </a:r>
                      <a:endParaRPr lang="en-US" sz="87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70" dirty="0">
                          <a:solidFill>
                            <a:srgbClr val="1F2933"/>
                          </a:solidFill>
                        </a:rPr>
                        <a:t>Tutor D generates the most revenue (£6.2k), but Tutor F and Tutor G show the strongest 5-star rates among completed sessions.</a:t>
                      </a:r>
                      <a:endParaRPr lang="en-US" sz="87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522514">
                <a:tc>
                  <a:txBody>
                    <a:bodyPr/>
                    <a:lstStyle/>
                    <a:p>
                      <a:pPr indent="0" marL="0">
                        <a:buNone/>
                      </a:pPr>
                      <a:r>
                        <a:rPr lang="en-US" sz="870" dirty="0">
                          <a:solidFill>
                            <a:srgbClr val="1F2933"/>
                          </a:solidFill>
                        </a:rPr>
                        <a:t>6. Student base</a:t>
                      </a:r>
                      <a:endParaRPr lang="en-US" sz="87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70" dirty="0">
                          <a:solidFill>
                            <a:srgbClr val="1F2933"/>
                          </a:solidFill>
                        </a:rPr>
                        <a:t>80 registered students, 76 active. Yorkshire contributes the largest share of sessions and revenue.</a:t>
                      </a:r>
                      <a:endParaRPr lang="en-US" sz="87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bl>
          </a:graphicData>
        </a:graphic>
      </p:graphicFrame>
      <p:sp>
        <p:nvSpPr>
          <p:cNvPr id="7" name="Shape 4"/>
          <p:cNvSpPr/>
          <p:nvPr/>
        </p:nvSpPr>
        <p:spPr>
          <a:xfrm>
            <a:off x="777240" y="5303520"/>
            <a:ext cx="10652760" cy="594360"/>
          </a:xfrm>
          <a:prstGeom prst="roundRect">
            <a:avLst>
              <a:gd name="adj" fmla="val 9231"/>
            </a:avLst>
          </a:prstGeom>
          <a:solidFill>
            <a:srgbClr val="EAF5ED"/>
          </a:solidFill>
          <a:ln w="8890">
            <a:solidFill>
              <a:srgbClr val="CFE4D6"/>
            </a:solidFill>
            <a:prstDash val="solid"/>
          </a:ln>
        </p:spPr>
      </p:sp>
      <p:sp>
        <p:nvSpPr>
          <p:cNvPr id="8" name="Text 5"/>
          <p:cNvSpPr/>
          <p:nvPr/>
        </p:nvSpPr>
        <p:spPr>
          <a:xfrm>
            <a:off x="932688" y="5504688"/>
            <a:ext cx="10332720" cy="182880"/>
          </a:xfrm>
          <a:prstGeom prst="rect">
            <a:avLst/>
          </a:prstGeom>
          <a:noFill/>
          <a:ln/>
        </p:spPr>
        <p:txBody>
          <a:bodyPr wrap="square" rtlCol="0" anchor="ctr">
            <a:normAutofit/>
          </a:bodyPr>
          <a:lstStyle/>
          <a:p>
            <a:pPr indent="0" marL="0">
              <a:buNone/>
            </a:pPr>
            <a:r>
              <a:rPr lang="en-US" sz="1200" b="1" dirty="0">
                <a:solidFill>
                  <a:srgbClr val="17466E"/>
                </a:solidFill>
              </a:rPr>
              <a:t>Overall reading: Northstar is a profitable, high-completion tutoring operation, but the business is highly dependent on Maths demand, online delivery and a small number of high-revenue tutors.</a:t>
            </a:r>
            <a:endParaRPr lang="en-US" sz="1200" dirty="0"/>
          </a:p>
        </p:txBody>
      </p:sp>
      <p:sp>
        <p:nvSpPr>
          <p:cNvPr id="9" name="Text 6"/>
          <p:cNvSpPr/>
          <p:nvPr/>
        </p:nvSpPr>
        <p:spPr>
          <a:xfrm>
            <a:off x="411480" y="6492240"/>
            <a:ext cx="4572000" cy="164592"/>
          </a:xfrm>
          <a:prstGeom prst="rect">
            <a:avLst/>
          </a:prstGeom>
          <a:noFill/>
          <a:ln/>
        </p:spPr>
        <p:txBody>
          <a:bodyPr wrap="square" rtlCol="0" anchor="ctr"/>
          <a:lstStyle/>
          <a:p>
            <a:pPr indent="0" marL="0">
              <a:buNone/>
            </a:pPr>
            <a:r>
              <a:rPr lang="en-US" sz="660" dirty="0">
                <a:solidFill>
                  <a:srgbClr val="7A8790"/>
                </a:solidFill>
              </a:rPr>
              <a:t>Northstar Tutoring Analytics  ·  Power BI Portfolio</a:t>
            </a:r>
            <a:endParaRPr lang="en-US" sz="660" dirty="0"/>
          </a:p>
        </p:txBody>
      </p:sp>
      <p:sp>
        <p:nvSpPr>
          <p:cNvPr id="10" name="Text 7"/>
          <p:cNvSpPr/>
          <p:nvPr/>
        </p:nvSpPr>
        <p:spPr>
          <a:xfrm>
            <a:off x="11375136" y="6492240"/>
            <a:ext cx="320040" cy="164592"/>
          </a:xfrm>
          <a:prstGeom prst="rect">
            <a:avLst/>
          </a:prstGeom>
          <a:noFill/>
          <a:ln/>
        </p:spPr>
        <p:txBody>
          <a:bodyPr wrap="square" rtlCol="0" anchor="ctr"/>
          <a:lstStyle/>
          <a:p>
            <a:pPr algn="r" indent="0" marL="0">
              <a:buNone/>
            </a:pPr>
            <a:r>
              <a:rPr lang="en-US" sz="660" dirty="0">
                <a:solidFill>
                  <a:srgbClr val="7A8790"/>
                </a:solidFill>
              </a:rPr>
              <a:t>10</a:t>
            </a:r>
            <a:endParaRPr lang="en-US" sz="6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11480" y="146304"/>
            <a:ext cx="4846320" cy="201168"/>
          </a:xfrm>
          <a:prstGeom prst="rect">
            <a:avLst/>
          </a:prstGeom>
          <a:noFill/>
          <a:ln/>
        </p:spPr>
        <p:txBody>
          <a:bodyPr wrap="square" rtlCol="0" anchor="ctr"/>
          <a:lstStyle/>
          <a:p>
            <a:pPr indent="0" marL="0">
              <a:buNone/>
            </a:pPr>
            <a:r>
              <a:rPr lang="en-US" sz="750" b="1" dirty="0">
                <a:solidFill>
                  <a:srgbClr val="5B6770"/>
                </a:solidFill>
                <a:latin typeface="Aptos" pitchFamily="34" charset="0"/>
                <a:ea typeface="Aptos" pitchFamily="34" charset="-122"/>
                <a:cs typeface="Aptos" pitchFamily="34" charset="-120"/>
              </a:rPr>
              <a:t>Power BI PL-300  ·  Portfolio Project</a:t>
            </a:r>
            <a:endParaRPr lang="en-US" sz="750" dirty="0"/>
          </a:p>
        </p:txBody>
      </p:sp>
      <p:sp>
        <p:nvSpPr>
          <p:cNvPr id="3" name="Text 1"/>
          <p:cNvSpPr/>
          <p:nvPr/>
        </p:nvSpPr>
        <p:spPr>
          <a:xfrm>
            <a:off x="411480" y="420624"/>
            <a:ext cx="7680960" cy="384048"/>
          </a:xfrm>
          <a:prstGeom prst="rect">
            <a:avLst/>
          </a:prstGeom>
          <a:noFill/>
          <a:ln/>
        </p:spPr>
        <p:txBody>
          <a:bodyPr wrap="square" rtlCol="0" anchor="ctr">
            <a:normAutofit/>
          </a:bodyPr>
          <a:lstStyle/>
          <a:p>
            <a:pPr indent="0" marL="0">
              <a:buNone/>
            </a:pPr>
            <a:r>
              <a:rPr lang="en-US" sz="2000" b="1" dirty="0">
                <a:solidFill>
                  <a:srgbClr val="17466E"/>
                </a:solidFill>
                <a:latin typeface="Aptos Display" pitchFamily="34" charset="0"/>
                <a:ea typeface="Aptos Display" pitchFamily="34" charset="-122"/>
                <a:cs typeface="Aptos Display" pitchFamily="34" charset="-120"/>
              </a:rPr>
              <a:t>Recommendations</a:t>
            </a:r>
            <a:endParaRPr lang="en-US" sz="2000" dirty="0"/>
          </a:p>
        </p:txBody>
      </p:sp>
      <p:sp>
        <p:nvSpPr>
          <p:cNvPr id="4" name="Shape 2"/>
          <p:cNvSpPr/>
          <p:nvPr/>
        </p:nvSpPr>
        <p:spPr>
          <a:xfrm>
            <a:off x="411480" y="905256"/>
            <a:ext cx="11292840" cy="0"/>
          </a:xfrm>
          <a:prstGeom prst="line">
            <a:avLst/>
          </a:prstGeom>
          <a:noFill/>
          <a:ln w="15240">
            <a:solidFill>
              <a:srgbClr val="17466E"/>
            </a:solidFill>
            <a:prstDash val="solid"/>
          </a:ln>
        </p:spPr>
      </p:sp>
      <p:sp>
        <p:nvSpPr>
          <p:cNvPr id="5" name="Text 3"/>
          <p:cNvSpPr/>
          <p:nvPr/>
        </p:nvSpPr>
        <p:spPr>
          <a:xfrm>
            <a:off x="10972800" y="438912"/>
            <a:ext cx="640080" cy="182880"/>
          </a:xfrm>
          <a:prstGeom prst="rect">
            <a:avLst/>
          </a:prstGeom>
          <a:noFill/>
          <a:ln/>
        </p:spPr>
        <p:txBody>
          <a:bodyPr wrap="square" rtlCol="0" anchor="ctr"/>
          <a:lstStyle/>
          <a:p>
            <a:pPr algn="r" indent="0" marL="0">
              <a:buNone/>
            </a:pPr>
            <a:r>
              <a:rPr lang="en-US" sz="750" dirty="0">
                <a:solidFill>
                  <a:srgbClr val="5B6770"/>
                </a:solidFill>
              </a:rPr>
              <a:t>11 / 12</a:t>
            </a:r>
            <a:endParaRPr lang="en-US" sz="7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1143000"/>
          <a:ext cx="10881360" cy="4297680"/>
        </p:xfrm>
        <a:graphic>
          <a:graphicData uri="http://schemas.openxmlformats.org/drawingml/2006/table">
            <a:tbl>
              <a:tblPr/>
              <a:tblGrid>
                <a:gridCol w="2560320"/>
                <a:gridCol w="5212080"/>
                <a:gridCol w="3108960"/>
              </a:tblGrid>
              <a:tr h="716280">
                <a:tc>
                  <a:txBody>
                    <a:bodyPr/>
                    <a:lstStyle/>
                    <a:p>
                      <a:pPr indent="0" marL="0">
                        <a:buNone/>
                      </a:pPr>
                      <a:r>
                        <a:rPr lang="en-US" sz="840" b="1" dirty="0">
                          <a:solidFill>
                            <a:srgbClr val="FFFFFF"/>
                          </a:solidFill>
                        </a:rPr>
                        <a:t>Action</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c>
                  <a:txBody>
                    <a:bodyPr/>
                    <a:lstStyle/>
                    <a:p>
                      <a:pPr indent="0" marL="0">
                        <a:buNone/>
                      </a:pPr>
                      <a:r>
                        <a:rPr lang="en-US" sz="840" b="1" dirty="0">
                          <a:solidFill>
                            <a:srgbClr val="FFFFFF"/>
                          </a:solidFill>
                        </a:rPr>
                        <a:t>Evidence behind it</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c>
                  <a:txBody>
                    <a:bodyPr/>
                    <a:lstStyle/>
                    <a:p>
                      <a:pPr indent="0" marL="0">
                        <a:buNone/>
                      </a:pPr>
                      <a:r>
                        <a:rPr lang="en-US" sz="840" b="1" dirty="0">
                          <a:solidFill>
                            <a:srgbClr val="FFFFFF"/>
                          </a:solidFill>
                        </a:rPr>
                        <a:t>How to measure it</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17466E"/>
                    </a:solidFill>
                  </a:tcPr>
                </a:tc>
              </a:tr>
              <a:tr h="716280">
                <a:tc>
                  <a:txBody>
                    <a:bodyPr/>
                    <a:lstStyle/>
                    <a:p>
                      <a:pPr indent="0" marL="0">
                        <a:buNone/>
                      </a:pPr>
                      <a:r>
                        <a:rPr lang="en-US" sz="840" dirty="0">
                          <a:solidFill>
                            <a:srgbClr val="1F2933"/>
                          </a:solidFill>
                        </a:rPr>
                        <a:t>1. Protect the Maths revenue engine</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40" dirty="0">
                          <a:solidFill>
                            <a:srgbClr val="1F2933"/>
                          </a:solidFill>
                        </a:rPr>
                        <a:t>Maths accounts for £18.3k of £22.1k revenue, with GCSE Maths the largest subject.</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40" dirty="0">
                          <a:solidFill>
                            <a:srgbClr val="1F2933"/>
                          </a:solidFill>
                        </a:rPr>
                        <a:t>Maths revenue, completion rate and waiting-list demand.</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716280">
                <a:tc>
                  <a:txBody>
                    <a:bodyPr/>
                    <a:lstStyle/>
                    <a:p>
                      <a:pPr indent="0" marL="0">
                        <a:buNone/>
                      </a:pPr>
                      <a:r>
                        <a:rPr lang="en-US" sz="840" dirty="0">
                          <a:solidFill>
                            <a:srgbClr val="1F2933"/>
                          </a:solidFill>
                        </a:rPr>
                        <a:t>2. Use tutor mix more deliberately</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40" dirty="0">
                          <a:solidFill>
                            <a:srgbClr val="1F2933"/>
                          </a:solidFill>
                        </a:rPr>
                        <a:t>Tutor D generates the most revenue, while Tutors F/G show very strong 5-star rates.</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40" dirty="0">
                          <a:solidFill>
                            <a:srgbClr val="1F2933"/>
                          </a:solidFill>
                        </a:rPr>
                        <a:t>Revenue per tutor, 5-star rate and completion rate by tutor.</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r h="716280">
                <a:tc>
                  <a:txBody>
                    <a:bodyPr/>
                    <a:lstStyle/>
                    <a:p>
                      <a:pPr indent="0" marL="0">
                        <a:buNone/>
                      </a:pPr>
                      <a:r>
                        <a:rPr lang="en-US" sz="840" dirty="0">
                          <a:solidFill>
                            <a:srgbClr val="1F2933"/>
                          </a:solidFill>
                        </a:rPr>
                        <a:t>3. Reduce lost capacity from cancellations</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40" dirty="0">
                          <a:solidFill>
                            <a:srgbClr val="1F2933"/>
                          </a:solidFill>
                        </a:rPr>
                        <a:t>64 of 520 sessions were not completed, including 30 cancelled early with £0 revenue.</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40" dirty="0">
                          <a:solidFill>
                            <a:srgbClr val="1F2933"/>
                          </a:solidFill>
                        </a:rPr>
                        <a:t>Cancellation rate, late-cancel revenue and recovered booking slots.</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r h="716280">
                <a:tc>
                  <a:txBody>
                    <a:bodyPr/>
                    <a:lstStyle/>
                    <a:p>
                      <a:pPr indent="0" marL="0">
                        <a:buNone/>
                      </a:pPr>
                      <a:r>
                        <a:rPr lang="en-US" sz="840" dirty="0">
                          <a:solidFill>
                            <a:srgbClr val="1F2933"/>
                          </a:solidFill>
                        </a:rPr>
                        <a:t>4. Grow non-Maths without weakening core demand</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40" dirty="0">
                          <a:solidFill>
                            <a:srgbClr val="1F2933"/>
                          </a:solidFill>
                        </a:rPr>
                        <a:t>English and Science exist but are small compared with Maths.</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c>
                  <a:txBody>
                    <a:bodyPr/>
                    <a:lstStyle/>
                    <a:p>
                      <a:pPr indent="0" marL="0">
                        <a:buNone/>
                      </a:pPr>
                      <a:r>
                        <a:rPr lang="en-US" sz="840" dirty="0">
                          <a:solidFill>
                            <a:srgbClr val="1F2933"/>
                          </a:solidFill>
                        </a:rPr>
                        <a:t>Revenue by category and new-student acquisition by subject.</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FFFFF"/>
                    </a:solidFill>
                  </a:tcPr>
                </a:tc>
              </a:tr>
              <a:tr h="716280">
                <a:tc>
                  <a:txBody>
                    <a:bodyPr/>
                    <a:lstStyle/>
                    <a:p>
                      <a:pPr indent="0" marL="0">
                        <a:buNone/>
                      </a:pPr>
                      <a:r>
                        <a:rPr lang="en-US" sz="840" dirty="0">
                          <a:solidFill>
                            <a:srgbClr val="1F2933"/>
                          </a:solidFill>
                        </a:rPr>
                        <a:t>5. Keep online delivery as the default growth route</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40" dirty="0">
                          <a:solidFill>
                            <a:srgbClr val="1F2933"/>
                          </a:solidFill>
                        </a:rPr>
                        <a:t>Online revenue is £15.4k versus £6.7k face-to-face.</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c>
                  <a:txBody>
                    <a:bodyPr/>
                    <a:lstStyle/>
                    <a:p>
                      <a:pPr indent="0" marL="0">
                        <a:buNone/>
                      </a:pPr>
                      <a:r>
                        <a:rPr lang="en-US" sz="840" dirty="0">
                          <a:solidFill>
                            <a:srgbClr val="1F2933"/>
                          </a:solidFill>
                        </a:rPr>
                        <a:t>Online revenue share, tutor availability and satisfaction by delivery mode.</a:t>
                      </a:r>
                      <a:endParaRPr lang="en-US" sz="840" dirty="0"/>
                    </a:p>
                  </a:txBody>
                  <a:tcPr marL="54864" marR="54864" marT="54864" marB="54864" anchor="mid">
                    <a:lnL w="6350" cap="flat" cmpd="sng" algn="ctr">
                      <a:solidFill>
                        <a:srgbClr val="C8D0D8"/>
                      </a:solidFill>
                      <a:prstDash val="solid"/>
                      <a:round/>
                      <a:headEnd type="none" w="med" len="med"/>
                      <a:tailEnd type="none" w="med" len="med"/>
                    </a:lnL>
                    <a:lnR w="6350" cap="flat" cmpd="sng" algn="ctr">
                      <a:solidFill>
                        <a:srgbClr val="C8D0D8"/>
                      </a:solidFill>
                      <a:prstDash val="solid"/>
                      <a:round/>
                      <a:headEnd type="none" w="med" len="med"/>
                      <a:tailEnd type="none" w="med" len="med"/>
                    </a:lnR>
                    <a:lnT w="6350" cap="flat" cmpd="sng" algn="ctr">
                      <a:solidFill>
                        <a:srgbClr val="C8D0D8"/>
                      </a:solidFill>
                      <a:prstDash val="solid"/>
                      <a:round/>
                      <a:headEnd type="none" w="med" len="med"/>
                      <a:tailEnd type="none" w="med" len="med"/>
                    </a:lnT>
                    <a:lnB w="6350" cap="flat" cmpd="sng" algn="ctr">
                      <a:solidFill>
                        <a:srgbClr val="C8D0D8"/>
                      </a:solidFill>
                      <a:prstDash val="solid"/>
                      <a:round/>
                      <a:headEnd type="none" w="med" len="med"/>
                      <a:tailEnd type="none" w="med" len="med"/>
                    </a:lnB>
                    <a:solidFill>
                      <a:srgbClr val="F6F8FA"/>
                    </a:solidFill>
                  </a:tcPr>
                </a:tc>
              </a:tr>
            </a:tbl>
          </a:graphicData>
        </a:graphic>
      </p:graphicFrame>
      <p:sp>
        <p:nvSpPr>
          <p:cNvPr id="7" name="Text 4"/>
          <p:cNvSpPr/>
          <p:nvPr/>
        </p:nvSpPr>
        <p:spPr>
          <a:xfrm>
            <a:off x="777240" y="5806440"/>
            <a:ext cx="10515600" cy="292608"/>
          </a:xfrm>
          <a:prstGeom prst="rect">
            <a:avLst/>
          </a:prstGeom>
          <a:noFill/>
          <a:ln/>
        </p:spPr>
        <p:txBody>
          <a:bodyPr wrap="square" rtlCol="0" anchor="ctr">
            <a:normAutofit/>
          </a:bodyPr>
          <a:lstStyle/>
          <a:p>
            <a:pPr indent="0" marL="0">
              <a:buNone/>
            </a:pPr>
            <a:r>
              <a:rPr lang="en-US" sz="1200" b="1" dirty="0">
                <a:solidFill>
                  <a:srgbClr val="17466E"/>
                </a:solidFill>
              </a:rPr>
              <a:t>Priority: start with operational levers that preserve existing revenue — completion, tutor allocation and capacity — before trying to launch large new subject areas.</a:t>
            </a:r>
            <a:endParaRPr lang="en-US" sz="1200" dirty="0"/>
          </a:p>
        </p:txBody>
      </p:sp>
      <p:sp>
        <p:nvSpPr>
          <p:cNvPr id="8" name="Text 5"/>
          <p:cNvSpPr/>
          <p:nvPr/>
        </p:nvSpPr>
        <p:spPr>
          <a:xfrm>
            <a:off x="411480" y="6492240"/>
            <a:ext cx="4572000" cy="164592"/>
          </a:xfrm>
          <a:prstGeom prst="rect">
            <a:avLst/>
          </a:prstGeom>
          <a:noFill/>
          <a:ln/>
        </p:spPr>
        <p:txBody>
          <a:bodyPr wrap="square" rtlCol="0" anchor="ctr"/>
          <a:lstStyle/>
          <a:p>
            <a:pPr indent="0" marL="0">
              <a:buNone/>
            </a:pPr>
            <a:r>
              <a:rPr lang="en-US" sz="660" dirty="0">
                <a:solidFill>
                  <a:srgbClr val="7A8790"/>
                </a:solidFill>
              </a:rPr>
              <a:t>Northstar Tutoring Analytics  ·  Power BI Portfolio</a:t>
            </a:r>
            <a:endParaRPr lang="en-US" sz="660" dirty="0"/>
          </a:p>
        </p:txBody>
      </p:sp>
      <p:sp>
        <p:nvSpPr>
          <p:cNvPr id="9" name="Text 6"/>
          <p:cNvSpPr/>
          <p:nvPr/>
        </p:nvSpPr>
        <p:spPr>
          <a:xfrm>
            <a:off x="11375136" y="6492240"/>
            <a:ext cx="320040" cy="164592"/>
          </a:xfrm>
          <a:prstGeom prst="rect">
            <a:avLst/>
          </a:prstGeom>
          <a:noFill/>
          <a:ln/>
        </p:spPr>
        <p:txBody>
          <a:bodyPr wrap="square" rtlCol="0" anchor="ctr"/>
          <a:lstStyle/>
          <a:p>
            <a:pPr algn="r" indent="0" marL="0">
              <a:buNone/>
            </a:pPr>
            <a:r>
              <a:rPr lang="en-US" sz="660" dirty="0">
                <a:solidFill>
                  <a:srgbClr val="7A8790"/>
                </a:solidFill>
              </a:rPr>
              <a:t>11</a:t>
            </a:r>
            <a:endParaRPr lang="en-US" sz="6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11480" y="146304"/>
            <a:ext cx="4846320" cy="201168"/>
          </a:xfrm>
          <a:prstGeom prst="rect">
            <a:avLst/>
          </a:prstGeom>
          <a:noFill/>
          <a:ln/>
        </p:spPr>
        <p:txBody>
          <a:bodyPr wrap="square" rtlCol="0" anchor="ctr"/>
          <a:lstStyle/>
          <a:p>
            <a:pPr indent="0" marL="0">
              <a:buNone/>
            </a:pPr>
            <a:r>
              <a:rPr lang="en-US" sz="750" b="1" dirty="0">
                <a:solidFill>
                  <a:srgbClr val="5B6770"/>
                </a:solidFill>
                <a:latin typeface="Aptos" pitchFamily="34" charset="0"/>
                <a:ea typeface="Aptos" pitchFamily="34" charset="-122"/>
                <a:cs typeface="Aptos" pitchFamily="34" charset="-120"/>
              </a:rPr>
              <a:t>Power BI PL-300  ·  Portfolio Project</a:t>
            </a:r>
            <a:endParaRPr lang="en-US" sz="750" dirty="0"/>
          </a:p>
        </p:txBody>
      </p:sp>
      <p:sp>
        <p:nvSpPr>
          <p:cNvPr id="3" name="Text 1"/>
          <p:cNvSpPr/>
          <p:nvPr/>
        </p:nvSpPr>
        <p:spPr>
          <a:xfrm>
            <a:off x="411480" y="420624"/>
            <a:ext cx="7680960" cy="384048"/>
          </a:xfrm>
          <a:prstGeom prst="rect">
            <a:avLst/>
          </a:prstGeom>
          <a:noFill/>
          <a:ln/>
        </p:spPr>
        <p:txBody>
          <a:bodyPr wrap="square" rtlCol="0" anchor="ctr">
            <a:normAutofit/>
          </a:bodyPr>
          <a:lstStyle/>
          <a:p>
            <a:pPr indent="0" marL="0">
              <a:buNone/>
            </a:pPr>
            <a:r>
              <a:rPr lang="en-US" sz="2000" b="1" dirty="0">
                <a:solidFill>
                  <a:srgbClr val="17466E"/>
                </a:solidFill>
                <a:latin typeface="Aptos Display" pitchFamily="34" charset="0"/>
                <a:ea typeface="Aptos Display" pitchFamily="34" charset="-122"/>
                <a:cs typeface="Aptos Display" pitchFamily="34" charset="-120"/>
              </a:rPr>
              <a:t>Limitations of the Analysis</a:t>
            </a:r>
            <a:endParaRPr lang="en-US" sz="2000" dirty="0"/>
          </a:p>
        </p:txBody>
      </p:sp>
      <p:sp>
        <p:nvSpPr>
          <p:cNvPr id="4" name="Shape 2"/>
          <p:cNvSpPr/>
          <p:nvPr/>
        </p:nvSpPr>
        <p:spPr>
          <a:xfrm>
            <a:off x="411480" y="905256"/>
            <a:ext cx="11292840" cy="0"/>
          </a:xfrm>
          <a:prstGeom prst="line">
            <a:avLst/>
          </a:prstGeom>
          <a:noFill/>
          <a:ln w="15240">
            <a:solidFill>
              <a:srgbClr val="17466E"/>
            </a:solidFill>
            <a:prstDash val="solid"/>
          </a:ln>
        </p:spPr>
      </p:sp>
      <p:sp>
        <p:nvSpPr>
          <p:cNvPr id="5" name="Text 3"/>
          <p:cNvSpPr/>
          <p:nvPr/>
        </p:nvSpPr>
        <p:spPr>
          <a:xfrm>
            <a:off x="10972800" y="438912"/>
            <a:ext cx="640080" cy="182880"/>
          </a:xfrm>
          <a:prstGeom prst="rect">
            <a:avLst/>
          </a:prstGeom>
          <a:noFill/>
          <a:ln/>
        </p:spPr>
        <p:txBody>
          <a:bodyPr wrap="square" rtlCol="0" anchor="ctr"/>
          <a:lstStyle/>
          <a:p>
            <a:pPr algn="r" indent="0" marL="0">
              <a:buNone/>
            </a:pPr>
            <a:r>
              <a:rPr lang="en-US" sz="750" dirty="0">
                <a:solidFill>
                  <a:srgbClr val="5B6770"/>
                </a:solidFill>
              </a:rPr>
              <a:t>12 / 12</a:t>
            </a:r>
            <a:endParaRPr lang="en-US" sz="750" dirty="0"/>
          </a:p>
        </p:txBody>
      </p:sp>
      <p:sp>
        <p:nvSpPr>
          <p:cNvPr id="6" name="Text 4"/>
          <p:cNvSpPr/>
          <p:nvPr/>
        </p:nvSpPr>
        <p:spPr>
          <a:xfrm>
            <a:off x="731520" y="1234440"/>
            <a:ext cx="3108960" cy="228600"/>
          </a:xfrm>
          <a:prstGeom prst="rect">
            <a:avLst/>
          </a:prstGeom>
          <a:noFill/>
          <a:ln/>
        </p:spPr>
        <p:txBody>
          <a:bodyPr wrap="square" rtlCol="0" anchor="ctr"/>
          <a:lstStyle/>
          <a:p>
            <a:pPr indent="0" marL="0">
              <a:buNone/>
            </a:pPr>
            <a:r>
              <a:rPr lang="en-US" sz="840" b="1" dirty="0">
                <a:solidFill>
                  <a:srgbClr val="17466E"/>
                </a:solidFill>
              </a:rPr>
              <a:t>CONSTRAINTS I WORKED UNDER</a:t>
            </a:r>
            <a:endParaRPr lang="en-US" sz="840" dirty="0"/>
          </a:p>
        </p:txBody>
      </p:sp>
      <p:sp>
        <p:nvSpPr>
          <p:cNvPr id="7" name="Text 5"/>
          <p:cNvSpPr/>
          <p:nvPr/>
        </p:nvSpPr>
        <p:spPr>
          <a:xfrm>
            <a:off x="731520" y="1536192"/>
            <a:ext cx="4800600" cy="3566160"/>
          </a:xfrm>
          <a:prstGeom prst="rect">
            <a:avLst/>
          </a:prstGeom>
          <a:noFill/>
          <a:ln/>
        </p:spPr>
        <p:txBody>
          <a:bodyPr wrap="square" lIns="254" tIns="254" rIns="254" bIns="254" rtlCol="0" anchor="t">
            <a:normAutofit/>
          </a:bodyPr>
          <a:lstStyle/>
          <a:p>
            <a:pPr indent="0" marL="0">
              <a:buNone/>
            </a:pPr>
            <a:r>
              <a:rPr lang="en-US" sz="1220" dirty="0">
                <a:solidFill>
                  <a:srgbClr val="1F2933"/>
                </a:solidFill>
              </a:rPr>
              <a:t>Synthetic data</a:t>
            </a:r>
            <a:endParaRPr lang="en-US" sz="1220" dirty="0"/>
          </a:p>
          <a:p>
            <a:pPr indent="0" marL="0">
              <a:buNone/>
            </a:pPr>
            <a:r>
              <a:rPr lang="en-US" sz="1220" dirty="0">
                <a:solidFill>
                  <a:srgbClr val="1F2933"/>
                </a:solidFill>
              </a:rPr>
              <a:t>A teaching dataset, not a real tutoring business. The method transfers; the exact figures do not.</a:t>
            </a:r>
            <a:endParaRPr lang="en-US" sz="1220" dirty="0"/>
          </a:p>
          <a:p>
            <a:pPr indent="0" marL="0">
              <a:buNone/>
            </a:pPr>
            <a:endParaRPr lang="en-US" sz="1220" dirty="0"/>
          </a:p>
          <a:p>
            <a:pPr indent="0" marL="0">
              <a:buNone/>
            </a:pPr>
            <a:r>
              <a:rPr lang="en-US" sz="1220" dirty="0">
                <a:solidFill>
                  <a:srgbClr val="1F2933"/>
                </a:solidFill>
              </a:rPr>
              <a:t>Small scale</a:t>
            </a:r>
            <a:endParaRPr lang="en-US" sz="1220" dirty="0"/>
          </a:p>
          <a:p>
            <a:pPr indent="0" marL="0">
              <a:buNone/>
            </a:pPr>
            <a:r>
              <a:rPr lang="en-US" sz="1220" dirty="0">
                <a:solidFill>
                  <a:srgbClr val="1F2933"/>
                </a:solidFill>
              </a:rPr>
              <a:t>520 sessions and 80 students are enough for practice, but thin slices by tutor/subject can be unstable.</a:t>
            </a:r>
            <a:endParaRPr lang="en-US" sz="1220" dirty="0"/>
          </a:p>
          <a:p>
            <a:pPr indent="0" marL="0">
              <a:buNone/>
            </a:pPr>
            <a:endParaRPr lang="en-US" sz="1220" dirty="0"/>
          </a:p>
          <a:p>
            <a:pPr indent="0" marL="0">
              <a:buNone/>
            </a:pPr>
            <a:r>
              <a:rPr lang="en-US" sz="1220" dirty="0">
                <a:solidFill>
                  <a:srgbClr val="1F2933"/>
                </a:solidFill>
              </a:rPr>
              <a:t>No student outcomes</a:t>
            </a:r>
            <a:endParaRPr lang="en-US" sz="1220" dirty="0"/>
          </a:p>
          <a:p>
            <a:pPr indent="0" marL="0">
              <a:buNone/>
            </a:pPr>
            <a:r>
              <a:rPr lang="en-US" sz="1220" dirty="0">
                <a:solidFill>
                  <a:srgbClr val="1F2933"/>
                </a:solidFill>
              </a:rPr>
              <a:t>The data does not include grades, retention, repeat bookings or progress measures.</a:t>
            </a:r>
            <a:endParaRPr lang="en-US" sz="1220" dirty="0"/>
          </a:p>
          <a:p>
            <a:pPr indent="0" marL="0">
              <a:buNone/>
            </a:pPr>
            <a:endParaRPr lang="en-US" sz="1220" dirty="0"/>
          </a:p>
          <a:p>
            <a:pPr indent="0" marL="0">
              <a:buNone/>
            </a:pPr>
            <a:r>
              <a:rPr lang="en-US" sz="1220" dirty="0">
                <a:solidFill>
                  <a:srgbClr val="1F2933"/>
                </a:solidFill>
              </a:rPr>
              <a:t>Satisfaction only after completed sessions</a:t>
            </a:r>
            <a:endParaRPr lang="en-US" sz="1220" dirty="0"/>
          </a:p>
          <a:p>
            <a:pPr indent="0" marL="0">
              <a:buNone/>
            </a:pPr>
            <a:r>
              <a:rPr lang="en-US" sz="1220" dirty="0">
                <a:solidFill>
                  <a:srgbClr val="1F2933"/>
                </a:solidFill>
              </a:rPr>
              <a:t>Cancelled/no-show sessions have no satisfaction score, so quality comparisons exclude a key type of negative experience.</a:t>
            </a:r>
            <a:endParaRPr lang="en-US" sz="1220" dirty="0"/>
          </a:p>
        </p:txBody>
      </p:sp>
      <p:sp>
        <p:nvSpPr>
          <p:cNvPr id="8" name="Text 6"/>
          <p:cNvSpPr/>
          <p:nvPr/>
        </p:nvSpPr>
        <p:spPr>
          <a:xfrm>
            <a:off x="6492240" y="1234440"/>
            <a:ext cx="3108960" cy="228600"/>
          </a:xfrm>
          <a:prstGeom prst="rect">
            <a:avLst/>
          </a:prstGeom>
          <a:noFill/>
          <a:ln/>
        </p:spPr>
        <p:txBody>
          <a:bodyPr wrap="square" rtlCol="0" anchor="ctr"/>
          <a:lstStyle/>
          <a:p>
            <a:pPr indent="0" marL="0">
              <a:buNone/>
            </a:pPr>
            <a:r>
              <a:rPr lang="en-US" sz="840" b="1" dirty="0">
                <a:solidFill>
                  <a:srgbClr val="17466E"/>
                </a:solidFill>
              </a:rPr>
              <a:t>IMPACT ON FINDINGS</a:t>
            </a:r>
            <a:endParaRPr lang="en-US" sz="840" dirty="0"/>
          </a:p>
        </p:txBody>
      </p:sp>
      <p:sp>
        <p:nvSpPr>
          <p:cNvPr id="9" name="Text 7"/>
          <p:cNvSpPr/>
          <p:nvPr/>
        </p:nvSpPr>
        <p:spPr>
          <a:xfrm>
            <a:off x="6492240" y="1536192"/>
            <a:ext cx="4480560" cy="2331720"/>
          </a:xfrm>
          <a:prstGeom prst="rect">
            <a:avLst/>
          </a:prstGeom>
          <a:noFill/>
          <a:ln/>
        </p:spPr>
        <p:txBody>
          <a:bodyPr wrap="square" lIns="254" tIns="254" rIns="254" bIns="254" rtlCol="0" anchor="t">
            <a:normAutofit/>
          </a:bodyPr>
          <a:lstStyle/>
          <a:p>
            <a:pPr indent="0" marL="0">
              <a:buNone/>
            </a:pPr>
            <a:r>
              <a:rPr lang="en-US" sz="1220" dirty="0">
                <a:solidFill>
                  <a:srgbClr val="1F2933"/>
                </a:solidFill>
              </a:rPr>
              <a:t>Revenue and completion findings are solid for the supplied data, but they should not be treated as forecasts.</a:t>
            </a:r>
            <a:endParaRPr lang="en-US" sz="1220" dirty="0"/>
          </a:p>
          <a:p>
            <a:pPr indent="0" marL="0">
              <a:buNone/>
            </a:pPr>
            <a:endParaRPr lang="en-US" sz="1220" dirty="0"/>
          </a:p>
          <a:p>
            <a:pPr indent="0" marL="0">
              <a:buNone/>
            </a:pPr>
            <a:r>
              <a:rPr lang="en-US" sz="1220" dirty="0">
                <a:solidFill>
                  <a:srgbClr val="1F2933"/>
                </a:solidFill>
              </a:rPr>
              <a:t>Tutor satisfaction rankings should be interpreted with sample sizes in mind.</a:t>
            </a:r>
            <a:endParaRPr lang="en-US" sz="1220" dirty="0"/>
          </a:p>
          <a:p>
            <a:pPr indent="0" marL="0">
              <a:buNone/>
            </a:pPr>
            <a:endParaRPr lang="en-US" sz="1220" dirty="0"/>
          </a:p>
          <a:p>
            <a:pPr indent="0" marL="0">
              <a:buNone/>
            </a:pPr>
            <a:r>
              <a:rPr lang="en-US" sz="1220" dirty="0">
                <a:solidFill>
                  <a:srgbClr val="1F2933"/>
                </a:solidFill>
              </a:rPr>
              <a:t>A stronger business analysis would add acquisition cost, tutor availability, customer lifetime value, student progress and repeat booking behaviour.</a:t>
            </a:r>
            <a:endParaRPr lang="en-US" sz="1220" dirty="0"/>
          </a:p>
        </p:txBody>
      </p:sp>
      <p:sp>
        <p:nvSpPr>
          <p:cNvPr id="10" name="Shape 8"/>
          <p:cNvSpPr/>
          <p:nvPr/>
        </p:nvSpPr>
        <p:spPr>
          <a:xfrm>
            <a:off x="6492240" y="4480560"/>
            <a:ext cx="4480560" cy="731520"/>
          </a:xfrm>
          <a:prstGeom prst="roundRect">
            <a:avLst>
              <a:gd name="adj" fmla="val 7500"/>
            </a:avLst>
          </a:prstGeom>
          <a:solidFill>
            <a:srgbClr val="FFF2E9"/>
          </a:solidFill>
          <a:ln w="8890">
            <a:solidFill>
              <a:srgbClr val="F1C5A5"/>
            </a:solidFill>
            <a:prstDash val="solid"/>
          </a:ln>
        </p:spPr>
      </p:sp>
      <p:sp>
        <p:nvSpPr>
          <p:cNvPr id="11" name="Text 9"/>
          <p:cNvSpPr/>
          <p:nvPr/>
        </p:nvSpPr>
        <p:spPr>
          <a:xfrm>
            <a:off x="6656832" y="4690872"/>
            <a:ext cx="4160520" cy="237744"/>
          </a:xfrm>
          <a:prstGeom prst="rect">
            <a:avLst/>
          </a:prstGeom>
          <a:noFill/>
          <a:ln/>
        </p:spPr>
        <p:txBody>
          <a:bodyPr wrap="square" rtlCol="0" anchor="ctr">
            <a:normAutofit/>
          </a:bodyPr>
          <a:lstStyle/>
          <a:p>
            <a:pPr indent="0" marL="0">
              <a:buNone/>
            </a:pPr>
            <a:r>
              <a:rPr lang="en-US" sz="1120" b="1" dirty="0">
                <a:solidFill>
                  <a:srgbClr val="1F2933"/>
                </a:solidFill>
              </a:rPr>
              <a:t>Best next dataset addition: student retention and repeat-booking behaviour. That would show whether high satisfaction actually turns into future revenue.</a:t>
            </a:r>
            <a:endParaRPr lang="en-US" sz="1120" dirty="0"/>
          </a:p>
        </p:txBody>
      </p:sp>
      <p:sp>
        <p:nvSpPr>
          <p:cNvPr id="12" name="Text 10"/>
          <p:cNvSpPr/>
          <p:nvPr/>
        </p:nvSpPr>
        <p:spPr>
          <a:xfrm>
            <a:off x="411480" y="6492240"/>
            <a:ext cx="4572000" cy="164592"/>
          </a:xfrm>
          <a:prstGeom prst="rect">
            <a:avLst/>
          </a:prstGeom>
          <a:noFill/>
          <a:ln/>
        </p:spPr>
        <p:txBody>
          <a:bodyPr wrap="square" rtlCol="0" anchor="ctr"/>
          <a:lstStyle/>
          <a:p>
            <a:pPr indent="0" marL="0">
              <a:buNone/>
            </a:pPr>
            <a:r>
              <a:rPr lang="en-US" sz="660" dirty="0">
                <a:solidFill>
                  <a:srgbClr val="7A8790"/>
                </a:solidFill>
              </a:rPr>
              <a:t>Northstar Tutoring Analytics  ·  Power BI Portfolio</a:t>
            </a:r>
            <a:endParaRPr lang="en-US" sz="660" dirty="0"/>
          </a:p>
        </p:txBody>
      </p:sp>
      <p:sp>
        <p:nvSpPr>
          <p:cNvPr id="13" name="Text 11"/>
          <p:cNvSpPr/>
          <p:nvPr/>
        </p:nvSpPr>
        <p:spPr>
          <a:xfrm>
            <a:off x="11375136" y="6492240"/>
            <a:ext cx="320040" cy="164592"/>
          </a:xfrm>
          <a:prstGeom prst="rect">
            <a:avLst/>
          </a:prstGeom>
          <a:noFill/>
          <a:ln/>
        </p:spPr>
        <p:txBody>
          <a:bodyPr wrap="square" rtlCol="0" anchor="ctr"/>
          <a:lstStyle/>
          <a:p>
            <a:pPr algn="r" indent="0" marL="0">
              <a:buNone/>
            </a:pPr>
            <a:r>
              <a:rPr lang="en-US" sz="660" dirty="0">
                <a:solidFill>
                  <a:srgbClr val="7A8790"/>
                </a:solidFill>
              </a:rPr>
              <a:t>12</a:t>
            </a:r>
            <a:endParaRPr lang="en-US" sz="6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E"/>
          </a:solidFill>
          <a:ln w="12700">
            <a:solidFill>
              <a:srgbClr val="F7FBFE"/>
            </a:solidFill>
            <a:prstDash val="solid"/>
          </a:ln>
        </p:spPr>
      </p:sp>
      <p:sp>
        <p:nvSpPr>
          <p:cNvPr id="3" name="Text 1"/>
          <p:cNvSpPr/>
          <p:nvPr/>
        </p:nvSpPr>
        <p:spPr>
          <a:xfrm>
            <a:off x="731520" y="2057400"/>
            <a:ext cx="5029200" cy="548640"/>
          </a:xfrm>
          <a:prstGeom prst="rect">
            <a:avLst/>
          </a:prstGeom>
          <a:noFill/>
          <a:ln/>
        </p:spPr>
        <p:txBody>
          <a:bodyPr wrap="square" lIns="0" tIns="0" rIns="0" bIns="0" rtlCol="0" anchor="ctr"/>
          <a:lstStyle/>
          <a:p>
            <a:pPr indent="0" marL="0">
              <a:buNone/>
            </a:pPr>
            <a:r>
              <a:rPr lang="en-US" sz="3600" b="1" dirty="0">
                <a:solidFill>
                  <a:srgbClr val="17466E"/>
                </a:solidFill>
              </a:rPr>
              <a:t>Thank you</a:t>
            </a:r>
            <a:endParaRPr lang="en-US" sz="3600" dirty="0"/>
          </a:p>
        </p:txBody>
      </p:sp>
      <p:sp>
        <p:nvSpPr>
          <p:cNvPr id="4" name="Text 2"/>
          <p:cNvSpPr/>
          <p:nvPr/>
        </p:nvSpPr>
        <p:spPr>
          <a:xfrm>
            <a:off x="768096" y="2788920"/>
            <a:ext cx="4572000" cy="320040"/>
          </a:xfrm>
          <a:prstGeom prst="rect">
            <a:avLst/>
          </a:prstGeom>
          <a:noFill/>
          <a:ln/>
        </p:spPr>
        <p:txBody>
          <a:bodyPr wrap="square" lIns="0" tIns="0" rIns="0" bIns="0" rtlCol="0" anchor="ctr"/>
          <a:lstStyle/>
          <a:p>
            <a:pPr indent="0" marL="0">
              <a:buNone/>
            </a:pPr>
            <a:r>
              <a:rPr lang="en-US" sz="1700" dirty="0">
                <a:solidFill>
                  <a:srgbClr val="1F2933"/>
                </a:solidFill>
              </a:rPr>
              <a:t>Questions &amp; discussion</a:t>
            </a:r>
            <a:endParaRPr lang="en-US" sz="1700" dirty="0"/>
          </a:p>
        </p:txBody>
      </p:sp>
      <p:sp>
        <p:nvSpPr>
          <p:cNvPr id="5" name="Text 3"/>
          <p:cNvSpPr/>
          <p:nvPr/>
        </p:nvSpPr>
        <p:spPr>
          <a:xfrm>
            <a:off x="786384" y="5989320"/>
            <a:ext cx="4572000" cy="182880"/>
          </a:xfrm>
          <a:prstGeom prst="rect">
            <a:avLst/>
          </a:prstGeom>
          <a:noFill/>
          <a:ln/>
        </p:spPr>
        <p:txBody>
          <a:bodyPr wrap="square" lIns="0" tIns="0" rIns="0" bIns="0" rtlCol="0" anchor="ctr"/>
          <a:lstStyle/>
          <a:p>
            <a:pPr indent="0" marL="0">
              <a:buNone/>
            </a:pPr>
            <a:r>
              <a:rPr lang="en-US" sz="1000" dirty="0">
                <a:solidFill>
                  <a:srgbClr val="5B6770"/>
                </a:solidFill>
              </a:rPr>
              <a:t>January Sambrook  ·  Power BI PL-300 Portfolio</a:t>
            </a:r>
            <a:endParaRPr lang="en-US" sz="1000" dirty="0"/>
          </a:p>
        </p:txBody>
      </p:sp>
      <p:sp>
        <p:nvSpPr>
          <p:cNvPr id="6" name="Shape 4"/>
          <p:cNvSpPr/>
          <p:nvPr/>
        </p:nvSpPr>
        <p:spPr>
          <a:xfrm>
            <a:off x="7040880" y="2011680"/>
            <a:ext cx="4023360" cy="1188720"/>
          </a:xfrm>
          <a:prstGeom prst="roundRect">
            <a:avLst>
              <a:gd name="adj" fmla="val 6154"/>
            </a:avLst>
          </a:prstGeom>
          <a:solidFill>
            <a:srgbClr val="FFFFFF"/>
          </a:solidFill>
          <a:ln w="8890">
            <a:solidFill>
              <a:srgbClr val="E9EDF0"/>
            </a:solidFill>
            <a:prstDash val="solid"/>
          </a:ln>
        </p:spPr>
      </p:sp>
      <p:sp>
        <p:nvSpPr>
          <p:cNvPr id="7" name="Text 5"/>
          <p:cNvSpPr/>
          <p:nvPr/>
        </p:nvSpPr>
        <p:spPr>
          <a:xfrm>
            <a:off x="7269480" y="2267712"/>
            <a:ext cx="3474720" cy="228600"/>
          </a:xfrm>
          <a:prstGeom prst="rect">
            <a:avLst/>
          </a:prstGeom>
          <a:noFill/>
          <a:ln/>
        </p:spPr>
        <p:txBody>
          <a:bodyPr wrap="square" rtlCol="0" anchor="ctr"/>
          <a:lstStyle/>
          <a:p>
            <a:pPr indent="0" marL="0">
              <a:buNone/>
            </a:pPr>
            <a:r>
              <a:rPr lang="en-US" sz="1100" b="1" dirty="0">
                <a:solidFill>
                  <a:srgbClr val="17466E"/>
                </a:solidFill>
              </a:rPr>
              <a:t>One takeaway</a:t>
            </a:r>
            <a:endParaRPr lang="en-US" sz="1100" dirty="0"/>
          </a:p>
        </p:txBody>
      </p:sp>
      <p:sp>
        <p:nvSpPr>
          <p:cNvPr id="8" name="Text 6"/>
          <p:cNvSpPr/>
          <p:nvPr/>
        </p:nvSpPr>
        <p:spPr>
          <a:xfrm>
            <a:off x="7269480" y="2587752"/>
            <a:ext cx="3383280" cy="384048"/>
          </a:xfrm>
          <a:prstGeom prst="rect">
            <a:avLst/>
          </a:prstGeom>
          <a:noFill/>
          <a:ln/>
        </p:spPr>
        <p:txBody>
          <a:bodyPr wrap="square" rtlCol="0" anchor="ctr">
            <a:normAutofit/>
          </a:bodyPr>
          <a:lstStyle/>
          <a:p>
            <a:pPr indent="0" marL="0">
              <a:buNone/>
            </a:pPr>
            <a:r>
              <a:rPr lang="en-US" sz="1300" dirty="0">
                <a:solidFill>
                  <a:srgbClr val="1F2933"/>
                </a:solidFill>
              </a:rPr>
              <a:t>Northstar’s revenue is healthy, but capacity and tutor deployment matter as much as demand.</a:t>
            </a:r>
            <a:endParaRPr lang="en-US" sz="1300" dirty="0"/>
          </a:p>
        </p:txBody>
      </p:sp>
      <p:sp>
        <p:nvSpPr>
          <p:cNvPr id="9" name="Text 7"/>
          <p:cNvSpPr/>
          <p:nvPr/>
        </p:nvSpPr>
        <p:spPr>
          <a:xfrm>
            <a:off x="411480" y="6492240"/>
            <a:ext cx="4572000" cy="164592"/>
          </a:xfrm>
          <a:prstGeom prst="rect">
            <a:avLst/>
          </a:prstGeom>
          <a:noFill/>
          <a:ln/>
        </p:spPr>
        <p:txBody>
          <a:bodyPr wrap="square" rtlCol="0" anchor="ctr"/>
          <a:lstStyle/>
          <a:p>
            <a:pPr indent="0" marL="0">
              <a:buNone/>
            </a:pPr>
            <a:r>
              <a:rPr lang="en-US" sz="660" dirty="0">
                <a:solidFill>
                  <a:srgbClr val="7A8790"/>
                </a:solidFill>
              </a:rPr>
              <a:t>Northstar Tutoring Analytics  ·  Power BI Portfolio</a:t>
            </a:r>
            <a:endParaRPr lang="en-US" sz="660" dirty="0"/>
          </a:p>
        </p:txBody>
      </p:sp>
      <p:sp>
        <p:nvSpPr>
          <p:cNvPr id="10" name="Text 8"/>
          <p:cNvSpPr/>
          <p:nvPr/>
        </p:nvSpPr>
        <p:spPr>
          <a:xfrm>
            <a:off x="11375136" y="6492240"/>
            <a:ext cx="320040" cy="164592"/>
          </a:xfrm>
          <a:prstGeom prst="rect">
            <a:avLst/>
          </a:prstGeom>
          <a:noFill/>
          <a:ln/>
        </p:spPr>
        <p:txBody>
          <a:bodyPr wrap="square" rtlCol="0" anchor="ctr"/>
          <a:lstStyle/>
          <a:p>
            <a:pPr algn="r" indent="0" marL="0">
              <a:buNone/>
            </a:pPr>
            <a:r>
              <a:rPr lang="en-US" sz="660" dirty="0">
                <a:solidFill>
                  <a:srgbClr val="7A8790"/>
                </a:solidFill>
              </a:rPr>
              <a:t>13</a:t>
            </a:r>
            <a:endParaRPr lang="en-US" sz="6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Newto Training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Northstar Tutoring Analytics</dc:title>
  <dc:subject>Power BI portfolio project presentation</dc:subject>
  <dc:creator>January Sambrook</dc:creator>
  <cp:lastModifiedBy>January Sambrook</cp:lastModifiedBy>
  <cp:revision>1</cp:revision>
  <dcterms:created xsi:type="dcterms:W3CDTF">2026-09-08T14:36:54Z</dcterms:created>
  <dcterms:modified xsi:type="dcterms:W3CDTF">2026-09-08T14:36:54Z</dcterms:modified>
</cp:coreProperties>
</file>